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2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e256ac0a-683f-2be2-7c98-6ad0e353fbae}">
          <p14:sldIdLst>
            <p14:sldId id="256"/>
          </p14:sldIdLst>
        </p14:section>
        <p14:section name="Apresentação" id="{4a800665-25b9-08a8-9b8d-c2376dac46dc}">
          <p14:sldIdLst>
            <p14:sldId id="257"/>
          </p14:sldIdLst>
        </p14:section>
        <p14:section name="Contexto" id="{5fd91a44-4aaa-6d27-3c7b-f8d988c4ae07}">
          <p14:sldIdLst>
            <p14:sldId id="258"/>
            <p14:sldId id="259"/>
            <p14:sldId id="260"/>
          </p14:sldIdLst>
        </p14:section>
        <p14:section name="Mercado" id="{a792106b-82af-49fc-8ca6-aa8186a3b273}">
          <p14:sldIdLst>
            <p14:sldId id="261"/>
            <p14:sldId id="262"/>
            <p14:sldId id="263"/>
          </p14:sldIdLst>
        </p14:section>
        <p14:section name="Negócio" id="{679c44e2-22aa-9e51-af90-6888df319219}">
          <p14:sldIdLst>
            <p14:sldId id="264"/>
            <p14:sldId id="265"/>
            <p14:sldId id="266"/>
          </p14:sldIdLst>
        </p14:section>
        <p14:section name="Produto" id="{e00e60a0-a39c-f73e-93f0-ba00183c3947}">
          <p14:sldIdLst>
            <p14:sldId id="267"/>
            <p14:sldId id="268"/>
          </p14:sldIdLst>
        </p14:section>
        <p14:section name="Comercial" id="{ada0c898-7caa-3e61-4f19-44848ccf4d7e}">
          <p14:sldIdLst>
            <p14:sldId id="269"/>
            <p14:sldId id="270"/>
          </p14:sldIdLst>
        </p14:section>
        <p14:section name="Operações" id="{7594bebc-1441-52f9-f0ae-fdd5c0a37108}">
          <p14:sldIdLst>
            <p14:sldId id="271"/>
          </p14:sldIdLst>
        </p14:section>
        <p14:section name="Suporte e sucesso" id="{27e875f7-6dfd-ea23-596d-b11779d3552a}">
          <p14:sldIdLst>
            <p14:sldId id="272"/>
            <p14:sldId id="273"/>
            <p14:sldId id="274"/>
          </p14:sldIdLst>
        </p14:section>
        <p14:section name="Organização" id="{731a235a-6bb6-99e7-e743-a0a61bea77a2}">
          <p14:sldIdLst>
            <p14:sldId id="275"/>
          </p14:sldIdLst>
        </p14:section>
        <p14:section name="Financeiro" id="{07bca44b-d4c3-0c7c-6abf-c8a60f572205}">
          <p14:sldIdLst>
            <p14:sldId id="276"/>
            <p14:sldId id="277"/>
            <p14:sldId id="278"/>
            <p14:sldId id="279"/>
            <p14:sldId id="280"/>
          </p14:sldIdLst>
        </p14:section>
        <p14:section name="Riscos" id="{a8f4e512-6de6-a6e6-3fd4-7debc92a1de1}">
          <p14:sldIdLst>
            <p14:sldId id="281"/>
          </p14:sldIdLst>
        </p14:section>
        <p14:section name="Execução" id="{395e9401-1f8e-b563-4db5-efeca40156e1}">
          <p14:sldIdLst>
            <p14:sldId id="282"/>
            <p14:sldId id="283"/>
          </p14:sldIdLst>
        </p14:section>
        <p14:section name="Anexos" id="{521e8ea1-4f84-2fab-843f-3a9d56662f9a}">
          <p14:sldIdLst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+mn-lt"/>
              </a:rPr>
              <a:t>Receita bruta por fonte (R$ milhões, base)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Assinatura</c:v>
                </c:pt>
              </c:strCache>
            </c:strRef>
          </c:tx>
          <c:spPr>
            <a:solidFill>
              <a:srgbClr val="1233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Ano 1</c:v>
                  </c:pt>
                  <c:pt idx="1">
                    <c:v>Ano 2</c:v>
                  </c:pt>
                  <c:pt idx="2">
                    <c:v>Ano 3</c:v>
                  </c:pt>
                  <c:pt idx="3">
                    <c:v>Ano 4</c:v>
                  </c:pt>
                  <c:pt idx="4">
                    <c:v>Ano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0.148</c:v>
                </c:pt>
                <c:pt idx="1">
                  <c:v>1.467</c:v>
                </c:pt>
                <c:pt idx="2">
                  <c:v>4.329</c:v>
                </c:pt>
                <c:pt idx="3">
                  <c:v>8.442</c:v>
                </c:pt>
                <c:pt idx="4">
                  <c:v>13.426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Implantação</c:v>
                </c:pt>
              </c:strCache>
            </c:strRef>
          </c:tx>
          <c:spPr>
            <a:solidFill>
              <a:srgbClr val="1770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Ano 1</c:v>
                  </c:pt>
                  <c:pt idx="1">
                    <c:v>Ano 2</c:v>
                  </c:pt>
                  <c:pt idx="2">
                    <c:v>Ano 3</c:v>
                  </c:pt>
                  <c:pt idx="3">
                    <c:v>Ano 4</c:v>
                  </c:pt>
                  <c:pt idx="4">
                    <c:v>Ano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0.064</c:v>
                </c:pt>
                <c:pt idx="1">
                  <c:v>0.36</c:v>
                </c:pt>
                <c:pt idx="2">
                  <c:v>0.631</c:v>
                </c:pt>
                <c:pt idx="3">
                  <c:v>0.861</c:v>
                </c:pt>
                <c:pt idx="4">
                  <c:v>1.043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Módulos</c:v>
                </c:pt>
              </c:strCache>
            </c:strRef>
          </c:tx>
          <c:spPr>
            <a:solidFill>
              <a:srgbClr val="7FAE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Ano 1</c:v>
                  </c:pt>
                  <c:pt idx="1">
                    <c:v>Ano 2</c:v>
                  </c:pt>
                  <c:pt idx="2">
                    <c:v>Ano 3</c:v>
                  </c:pt>
                  <c:pt idx="3">
                    <c:v>Ano 4</c:v>
                  </c:pt>
                  <c:pt idx="4">
                    <c:v>Ano 5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0.041</c:v>
                </c:pt>
                <c:pt idx="2">
                  <c:v>0.218</c:v>
                </c:pt>
                <c:pt idx="3">
                  <c:v>0.59</c:v>
                </c:pt>
                <c:pt idx="4">
                  <c:v>1.126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Benchmark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Ano 1</c:v>
                  </c:pt>
                  <c:pt idx="1">
                    <c:v>Ano 2</c:v>
                  </c:pt>
                  <c:pt idx="2">
                    <c:v>Ano 3</c:v>
                  </c:pt>
                  <c:pt idx="3">
                    <c:v>Ano 4</c:v>
                  </c:pt>
                  <c:pt idx="4">
                    <c:v>Ano 5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</c:v>
                </c:pt>
                <c:pt idx="1">
                  <c:v>0.015</c:v>
                </c:pt>
                <c:pt idx="2">
                  <c:v>0.104</c:v>
                </c:pt>
                <c:pt idx="3">
                  <c:v>0.303</c:v>
                </c:pt>
                <c:pt idx="4">
                  <c:v>0.59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Consultores</c:v>
                </c:pt>
              </c:strCache>
            </c:strRef>
          </c:tx>
          <c:spPr>
            <a:solidFill>
              <a:srgbClr val="5BA3A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Ano 1</c:v>
                  </c:pt>
                  <c:pt idx="1">
                    <c:v>Ano 2</c:v>
                  </c:pt>
                  <c:pt idx="2">
                    <c:v>Ano 3</c:v>
                  </c:pt>
                  <c:pt idx="3">
                    <c:v>Ano 4</c:v>
                  </c:pt>
                  <c:pt idx="4">
                    <c:v>Ano 5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0</c:v>
                </c:pt>
                <c:pt idx="1">
                  <c:v>0.049</c:v>
                </c:pt>
                <c:pt idx="2">
                  <c:v>0.198</c:v>
                </c:pt>
                <c:pt idx="3">
                  <c:v>0.463</c:v>
                </c:pt>
                <c:pt idx="4">
                  <c:v>0.858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Evento</c:v>
                </c:pt>
              </c:strCache>
            </c:strRef>
          </c:tx>
          <c:spPr>
            <a:solidFill>
              <a:srgbClr val="B9C7C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Ano 1</c:v>
                  </c:pt>
                  <c:pt idx="1">
                    <c:v>Ano 2</c:v>
                  </c:pt>
                  <c:pt idx="2">
                    <c:v>Ano 3</c:v>
                  </c:pt>
                  <c:pt idx="3">
                    <c:v>Ano 4</c:v>
                  </c:pt>
                  <c:pt idx="4">
                    <c:v>Ano 5</c:v>
                  </c:pt>
                </c:lvl>
              </c:multiLvlStrCache>
            </c:multiLvl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0</c:v>
                </c:pt>
                <c:pt idx="1">
                  <c:v>0.06</c:v>
                </c:pt>
                <c:pt idx="2">
                  <c:v>0.12</c:v>
                </c:pt>
                <c:pt idx="3">
                  <c:v>0.2</c:v>
                </c:pt>
                <c:pt idx="4">
                  <c:v>0.28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Patrocínios</c:v>
                </c:pt>
              </c:strCache>
            </c:strRef>
          </c:tx>
          <c:spPr>
            <a:solidFill>
              <a:srgbClr val="5B6B7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Ano 1</c:v>
                  </c:pt>
                  <c:pt idx="1">
                    <c:v>Ano 2</c:v>
                  </c:pt>
                  <c:pt idx="2">
                    <c:v>Ano 3</c:v>
                  </c:pt>
                  <c:pt idx="3">
                    <c:v>Ano 4</c:v>
                  </c:pt>
                  <c:pt idx="4">
                    <c:v>Ano 5</c:v>
                  </c:pt>
                </c:lvl>
              </c:multiLvlStrCache>
            </c:multiLvlStrRef>
          </c:cat>
          <c:val>
            <c:numRef>
              <c:f>Sheet1!$H$2:$H$6</c:f>
              <c:numCache>
                <c:formatCode>General</c:formatCode>
                <c:ptCount val="5"/>
                <c:pt idx="0">
                  <c:v>0</c:v>
                </c:pt>
                <c:pt idx="1">
                  <c:v>0.12</c:v>
                </c:pt>
                <c:pt idx="2">
                  <c:v>0.36</c:v>
                </c:pt>
                <c:pt idx="3">
                  <c:v>0.6</c:v>
                </c:pt>
                <c:pt idx="4">
                  <c:v>0.9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6E3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+mn-lt"/>
              </a:rPr>
              <a:t>R$ milhões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Receita líquida</c:v>
                </c:pt>
              </c:strCache>
            </c:strRef>
          </c:tx>
          <c:spPr>
            <a:solidFill>
              <a:srgbClr val="17707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Ano 1</c:v>
                  </c:pt>
                  <c:pt idx="1">
                    <c:v>Ano 2</c:v>
                  </c:pt>
                  <c:pt idx="2">
                    <c:v>Ano 3</c:v>
                  </c:pt>
                  <c:pt idx="3">
                    <c:v>Ano 4</c:v>
                  </c:pt>
                  <c:pt idx="4">
                    <c:v>Ano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</c:v>
                </c:pt>
                <c:pt idx="1">
                  <c:v>1.9</c:v>
                </c:pt>
                <c:pt idx="2">
                  <c:v>5.2</c:v>
                </c:pt>
                <c:pt idx="3">
                  <c:v>9.9</c:v>
                </c:pt>
                <c:pt idx="4">
                  <c:v>15.7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F2A93B"/>
            </a:solidFill>
            <a:ln w="38100" cap="flat">
              <a:solidFill>
                <a:srgbClr val="F2A93B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F2A93B"/>
              </a:solidFill>
              <a:ln w="9525" cap="flat">
                <a:solidFill>
                  <a:srgbClr val="F2A9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Ano 1</c:v>
                  </c:pt>
                  <c:pt idx="1">
                    <c:v>Ano 2</c:v>
                  </c:pt>
                  <c:pt idx="2">
                    <c:v>Ano 3</c:v>
                  </c:pt>
                  <c:pt idx="3">
                    <c:v>Ano 4</c:v>
                  </c:pt>
                  <c:pt idx="4">
                    <c:v>Ano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-1.8</c:v>
                </c:pt>
                <c:pt idx="1">
                  <c:v>-1.9</c:v>
                </c:pt>
                <c:pt idx="2">
                  <c:v>-0.2</c:v>
                </c:pt>
                <c:pt idx="3">
                  <c:v>2.1</c:v>
                </c:pt>
                <c:pt idx="4">
                  <c:v>5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6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os números vêm da planilha DairyUp_Modelo_Financeiro.xlsx, cenário base. Valores de mercado e preços são premissas a validar.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23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DairyUp  |  Plano de negócios  |  Confidencial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23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DairyUp  |  Plano de negócios  |  Confidencial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9BDC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brand/dairyup-horizont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640080"/>
            <a:ext cx="292608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21031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DairyUp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10896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da qualidade do leite e do rebanho, fazenda por fazenda</a:t>
            </a:r>
            <a:endParaRPr lang="en-US" sz="19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9319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FA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negócios, plano de suporte e pedido de investimento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à diretoria  |  Outubro de 2026  |  Confidencial</a:t>
            </a:r>
            <a:endParaRPr lang="en-US" sz="1300" dirty="0"/>
          </a:p>
        </p:txBody>
      </p:sp>
      <p:sp>
        <p:nvSpPr>
          <p:cNvPr id="7" name="moldura"/>
          <p:cNvSpPr/>
          <p:nvPr/>
        </p:nvSpPr>
        <p:spPr>
          <a:xfrm>
            <a:off x="9363456" y="859536"/>
            <a:ext cx="2311832" cy="4626864"/>
          </a:xfrm>
          <a:prstGeom prst="roundRect">
            <a:avLst>
              <a:gd name="adj" fmla="val 4746"/>
            </a:avLst>
          </a:prstGeom>
          <a:solidFill>
            <a:srgbClr val="12333A"/>
          </a:solidFill>
          <a:ln w="12700">
            <a:solidFill>
              <a:srgbClr val="12333A"/>
            </a:solidFill>
            <a:prstDash val="solid"/>
          </a:ln>
        </p:spPr>
      </p:sp>
      <p:pic>
        <p:nvPicPr>
          <p:cNvPr id="8" name="tela painel" descr="shots/pain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914400"/>
            <a:ext cx="2202104" cy="45171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executivo: um negócio recorrente que nasce de um produto já funcionando</a:t>
            </a:r>
            <a:endParaRPr lang="en-US" sz="2600" dirty="0"/>
          </a:p>
        </p:txBody>
      </p:sp>
      <p:sp>
        <p:nvSpPr>
          <p:cNvPr id="4" name="stat"/>
          <p:cNvSpPr/>
          <p:nvPr/>
        </p:nvSpPr>
        <p:spPr>
          <a:xfrm>
            <a:off x="548640" y="137160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8132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70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R$ 6,9 mi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1762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ao fim do ano 3 (base)</a:t>
            </a:r>
            <a:endParaRPr lang="en-US" sz="1200" dirty="0"/>
          </a:p>
        </p:txBody>
      </p:sp>
      <p:sp>
        <p:nvSpPr>
          <p:cNvPr id="7" name="stat"/>
          <p:cNvSpPr/>
          <p:nvPr/>
        </p:nvSpPr>
        <p:spPr>
          <a:xfrm>
            <a:off x="3383280" y="137160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66160" y="148132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70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R$ 19,5 mi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21762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ao fim do ano 5 (base)</a:t>
            </a:r>
            <a:endParaRPr lang="en-US" sz="1200" dirty="0"/>
          </a:p>
        </p:txBody>
      </p:sp>
      <p:sp>
        <p:nvSpPr>
          <p:cNvPr id="10" name="stat"/>
          <p:cNvSpPr/>
          <p:nvPr/>
        </p:nvSpPr>
        <p:spPr>
          <a:xfrm>
            <a:off x="6217920" y="137160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0" y="148132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FA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Mês 32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21762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operacional (EBITDA &gt; 0)</a:t>
            </a:r>
            <a:endParaRPr lang="en-US" sz="1200" dirty="0"/>
          </a:p>
        </p:txBody>
      </p:sp>
      <p:sp>
        <p:nvSpPr>
          <p:cNvPr id="13" name="stat"/>
          <p:cNvSpPr/>
          <p:nvPr/>
        </p:nvSpPr>
        <p:spPr>
          <a:xfrm>
            <a:off x="9052560" y="137160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235440" y="14813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R$ 4,7 mi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9235440" y="21762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 solicitado, em 3 parcelas por marcos</a:t>
            </a:r>
            <a:endParaRPr lang="en-US" sz="1200" dirty="0"/>
          </a:p>
        </p:txBody>
      </p:sp>
      <p:sp>
        <p:nvSpPr>
          <p:cNvPr id="16" name="oquee"/>
          <p:cNvSpPr/>
          <p:nvPr/>
        </p:nvSpPr>
        <p:spPr>
          <a:xfrm>
            <a:off x="548640" y="2880360"/>
            <a:ext cx="5486400" cy="3337560"/>
          </a:xfrm>
          <a:prstGeom prst="roundRect">
            <a:avLst>
              <a:gd name="adj" fmla="val 2192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3017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e como ganha dinheiro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3474720"/>
            <a:ext cx="5029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web/mobile de gestão da qualidade do leite (CCS, CBT, gordura, proteína) e do rebanho, com banco isolado por fazenda.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por vaca/mês (R$ 4,50 a R$ 10,00, com mínimo por plano) + implantação, módulos, benchmark, licenças a consultores, evento e patrocínios.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860 fazendas e 146 mil vacas no ano 5 (base).</a:t>
            </a:r>
            <a:endParaRPr lang="en-US" sz="1300" dirty="0"/>
          </a:p>
        </p:txBody>
      </p:sp>
      <p:sp>
        <p:nvSpPr>
          <p:cNvPr id="19" name="decisao"/>
          <p:cNvSpPr/>
          <p:nvPr/>
        </p:nvSpPr>
        <p:spPr>
          <a:xfrm>
            <a:off x="6217920" y="2880360"/>
            <a:ext cx="5440680" cy="3337560"/>
          </a:xfrm>
          <a:prstGeom prst="roundRect">
            <a:avLst>
              <a:gd name="adj" fmla="val 2192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46520" y="3017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solicitada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446520" y="3474720"/>
            <a:ext cx="5029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o investimento de R$ 4,7 mi em 3 parcelas (45% / 35% / 20%) ligadas a marcos.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o lançamento comercial no mês 4, após 3 pilotos concluídos.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(base): VPL R$ 7,5 mi (com valor residual), TIR 22% sem valor residual, payback no mês 54.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Risco: no cenário conservador o caixa fica R$ 1,0 mi abaixo de zero; mitigado por contratações condicionadas a marcos.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problema: a fazenda mede muito, mas decide tarde</a:t>
            </a:r>
            <a:endParaRPr lang="en-US" sz="2600" dirty="0"/>
          </a:p>
        </p:txBody>
      </p:sp>
      <p:sp>
        <p:nvSpPr>
          <p:cNvPr id="3" name="stat"/>
          <p:cNvSpPr/>
          <p:nvPr/>
        </p:nvSpPr>
        <p:spPr>
          <a:xfrm>
            <a:off x="548640" y="141732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2704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70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35,7 bi L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219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leite produzidos no Brasil em 2024 (IBGE)</a:t>
            </a:r>
            <a:endParaRPr lang="en-US" sz="1200" dirty="0"/>
          </a:p>
        </p:txBody>
      </p:sp>
      <p:sp>
        <p:nvSpPr>
          <p:cNvPr id="6" name="stat"/>
          <p:cNvSpPr/>
          <p:nvPr/>
        </p:nvSpPr>
        <p:spPr>
          <a:xfrm>
            <a:off x="4297680" y="141732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80560" y="152704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70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15,1 mi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22219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vacas ordenhadas em 2024; 2.632 L/vaca/ano (IBGE)</a:t>
            </a:r>
            <a:endParaRPr lang="en-US" sz="1200" dirty="0"/>
          </a:p>
        </p:txBody>
      </p:sp>
      <p:sp>
        <p:nvSpPr>
          <p:cNvPr id="9" name="stat"/>
          <p:cNvSpPr/>
          <p:nvPr/>
        </p:nvSpPr>
        <p:spPr>
          <a:xfrm>
            <a:off x="8046720" y="1417320"/>
            <a:ext cx="3611880" cy="1325880"/>
          </a:xfrm>
          <a:prstGeom prst="roundRect">
            <a:avLst>
              <a:gd name="adj" fmla="val 5517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0" y="1527048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70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1,18 mi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222199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estabelecimentos com leite no Censo Agropecuário 2017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548640" y="310896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246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dispersos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6576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leiteiro oficial, mapa do laticínio, planilhas e cadernos: cada fonte conta uma parte da história.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6217920" y="310896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3246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Decisão atrasada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36576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vaca com CCS alta só é percebida no relatório mensal; a cura e a nova infecção passam despercebidas.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548640" y="466344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4800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Equipe no campo sem ferramenta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2120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Lançamentos em papel, sem internet na ordenha, sem histórico confiável por vaca.</a:t>
            </a:r>
            <a:endParaRPr lang="en-US" sz="1300" dirty="0"/>
          </a:p>
        </p:txBody>
      </p:sp>
      <p:sp>
        <p:nvSpPr>
          <p:cNvPr id="21" name="card"/>
          <p:cNvSpPr/>
          <p:nvPr/>
        </p:nvSpPr>
        <p:spPr>
          <a:xfrm>
            <a:off x="6217920" y="466344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4800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comparação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52120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produtor não sabe se 8% de nova infecção é bom ou ruim para o seu porte.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1996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IBGE, Pesquisa da Pecuária Municipal 2024 (via Compre Rural) e Censo Agropecuário 2017 (1.176.295 estabelecimentos).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solução: painel de qualidade do leite que a equipe usa no celular</a:t>
            </a:r>
            <a:endParaRPr lang="en-US" sz="2600" dirty="0"/>
          </a:p>
        </p:txBody>
      </p:sp>
      <p:sp>
        <p:nvSpPr>
          <p:cNvPr id="3" name="moldura"/>
          <p:cNvSpPr/>
          <p:nvPr/>
        </p:nvSpPr>
        <p:spPr>
          <a:xfrm>
            <a:off x="585216" y="1362456"/>
            <a:ext cx="2271713" cy="4544568"/>
          </a:xfrm>
          <a:prstGeom prst="roundRect">
            <a:avLst>
              <a:gd name="adj" fmla="val 4830"/>
            </a:avLst>
          </a:prstGeom>
          <a:solidFill>
            <a:srgbClr val="12333A"/>
          </a:solidFill>
          <a:ln w="12700">
            <a:solidFill>
              <a:srgbClr val="12333A"/>
            </a:solidFill>
            <a:prstDash val="solid"/>
          </a:ln>
        </p:spPr>
      </p:sp>
      <p:pic>
        <p:nvPicPr>
          <p:cNvPr id="4" name="tela painel" descr="shots/pai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2161985" cy="4434840"/>
          </a:xfrm>
          <a:prstGeom prst="rect">
            <a:avLst/>
          </a:prstGeom>
        </p:spPr>
      </p:pic>
      <p:sp>
        <p:nvSpPr>
          <p:cNvPr id="5" name="moldura"/>
          <p:cNvSpPr/>
          <p:nvPr/>
        </p:nvSpPr>
        <p:spPr>
          <a:xfrm>
            <a:off x="3145536" y="1362456"/>
            <a:ext cx="2271713" cy="4544568"/>
          </a:xfrm>
          <a:prstGeom prst="roundRect">
            <a:avLst>
              <a:gd name="adj" fmla="val 4830"/>
            </a:avLst>
          </a:prstGeom>
          <a:solidFill>
            <a:srgbClr val="12333A"/>
          </a:solidFill>
          <a:ln w="12700">
            <a:solidFill>
              <a:srgbClr val="12333A"/>
            </a:solidFill>
            <a:prstDash val="solid"/>
          </a:ln>
        </p:spPr>
      </p:sp>
      <p:pic>
        <p:nvPicPr>
          <p:cNvPr id="6" name="tela gestao" descr="shots/gesta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417320"/>
            <a:ext cx="2161985" cy="4434840"/>
          </a:xfrm>
          <a:prstGeom prst="rect">
            <a:avLst/>
          </a:prstGeom>
        </p:spPr>
      </p:pic>
      <p:sp>
        <p:nvSpPr>
          <p:cNvPr id="7" name="moldura"/>
          <p:cNvSpPr/>
          <p:nvPr/>
        </p:nvSpPr>
        <p:spPr>
          <a:xfrm>
            <a:off x="5705856" y="1362456"/>
            <a:ext cx="2271713" cy="4544568"/>
          </a:xfrm>
          <a:prstGeom prst="roundRect">
            <a:avLst>
              <a:gd name="adj" fmla="val 4830"/>
            </a:avLst>
          </a:prstGeom>
          <a:solidFill>
            <a:srgbClr val="12333A"/>
          </a:solidFill>
          <a:ln w="12700">
            <a:solidFill>
              <a:srgbClr val="12333A"/>
            </a:solidFill>
            <a:prstDash val="solid"/>
          </a:ln>
        </p:spPr>
      </p:sp>
      <p:pic>
        <p:nvPicPr>
          <p:cNvPr id="8" name="tela controle" descr="shots/contro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417320"/>
            <a:ext cx="2161985" cy="443484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5961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3108960" y="5961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</a:t>
            </a:r>
            <a:endParaRPr lang="en-US" sz="1100" dirty="0"/>
          </a:p>
        </p:txBody>
      </p:sp>
      <p:sp>
        <p:nvSpPr>
          <p:cNvPr id="12" name="Text 7"/>
          <p:cNvSpPr txBox="1"/>
          <p:nvPr/>
        </p:nvSpPr>
        <p:spPr>
          <a:xfrm>
            <a:off x="5669280" y="5961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por vaca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841248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cliente recebe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8412480" y="1828800"/>
            <a:ext cx="32918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CCS, CBT, gordura e proteína da vaca e do tanque, com metas e alertas.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de cada vaca: sadia, curada, nova infecção ou crônica.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Importação direta do relatório oficial do controle leiteiro (APCBRH).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 no celular, mesmo sem internet; sincroniza depois.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Perfis: dono, encarregado, funcionário, veterinária.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640080" y="62362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reais do sistema com dados de demonstração (300 vacas fictícias).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produto já existe: o piloto está construído e testado</a:t>
            </a:r>
            <a:endParaRPr lang="en-US" sz="2600" dirty="0"/>
          </a:p>
        </p:txBody>
      </p:sp>
      <p:sp>
        <p:nvSpPr>
          <p:cNvPr id="3" name="stat"/>
          <p:cNvSpPr/>
          <p:nvPr/>
        </p:nvSpPr>
        <p:spPr>
          <a:xfrm>
            <a:off x="548640" y="137160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8132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70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~3.000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762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de código (API, site e testes)</a:t>
            </a:r>
            <a:endParaRPr lang="en-US" sz="1200" dirty="0"/>
          </a:p>
        </p:txBody>
      </p:sp>
      <p:sp>
        <p:nvSpPr>
          <p:cNvPr id="6" name="stat"/>
          <p:cNvSpPr/>
          <p:nvPr/>
        </p:nvSpPr>
        <p:spPr>
          <a:xfrm>
            <a:off x="3383280" y="137160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148132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70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1762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migrações de banco versionadas</a:t>
            </a:r>
            <a:endParaRPr lang="en-US" sz="1200" dirty="0"/>
          </a:p>
        </p:txBody>
      </p:sp>
      <p:sp>
        <p:nvSpPr>
          <p:cNvPr id="9" name="stat"/>
          <p:cNvSpPr/>
          <p:nvPr/>
        </p:nvSpPr>
        <p:spPr>
          <a:xfrm>
            <a:off x="6217920" y="137160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48132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70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404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1762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vacas usadas para conferir o cálculo do relatório oficial</a:t>
            </a:r>
            <a:endParaRPr lang="en-US" sz="1200" dirty="0"/>
          </a:p>
        </p:txBody>
      </p:sp>
      <p:sp>
        <p:nvSpPr>
          <p:cNvPr id="12" name="stat"/>
          <p:cNvSpPr/>
          <p:nvPr/>
        </p:nvSpPr>
        <p:spPr>
          <a:xfrm>
            <a:off x="9052560" y="137160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35440" y="14813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70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clique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9235440" y="21762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criar uma fazenda nova (banco próprio)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1110996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6235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Já pronto (piloto)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Próximas etapas (no plano)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Qualidade do leite e dashboards de gestão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Produção por vaca, eventos reprodutivos, bezerras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Importação do controle leiteiro oficial (APCBRH) e do mapa do laticínio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Financeiro, benchmark entre fazendas, painel do consultor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Cadastro de animais, lactações, DEL/LAC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Alertas por WhatsApp e previsão de risco com 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com 4 perfis, auditoria, apagar recuperável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Hospedagem AWS com backup, monitoramento e SLA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PWA com fila offline; um banco por fazenda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Integração com ordenhadeiras e laticínios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548640" y="61996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repositório Dairysistem (README, migrações, testes). Cliente-piloto: Fazenda Mariana.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Mercado: o foco inicial cabe em 3,8 milhões de vacas</a:t>
            </a:r>
            <a:endParaRPr lang="en-US" sz="2600" dirty="0"/>
          </a:p>
        </p:txBody>
      </p:sp>
      <p:sp>
        <p:nvSpPr>
          <p:cNvPr id="3" name="nivel"/>
          <p:cNvSpPr/>
          <p:nvPr/>
        </p:nvSpPr>
        <p:spPr>
          <a:xfrm>
            <a:off x="548640" y="1417320"/>
            <a:ext cx="5669280" cy="1417320"/>
          </a:xfrm>
          <a:prstGeom prst="roundRect">
            <a:avLst>
              <a:gd name="adj" fmla="val 6452"/>
            </a:avLst>
          </a:prstGeom>
          <a:solidFill>
            <a:srgbClr val="12333A"/>
          </a:solidFill>
          <a:ln w="12700">
            <a:solidFill>
              <a:srgbClr val="123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  R$ 1,3 bi/ano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15,1 mi de vacas ordenhadas x R$ 7,36/vaca/mês x 12 (IBGE 2024)</a:t>
            </a:r>
            <a:endParaRPr lang="en-US" sz="1200" dirty="0"/>
          </a:p>
        </p:txBody>
      </p:sp>
      <p:sp>
        <p:nvSpPr>
          <p:cNvPr id="6" name="nivel"/>
          <p:cNvSpPr/>
          <p:nvPr/>
        </p:nvSpPr>
        <p:spPr>
          <a:xfrm>
            <a:off x="914400" y="2971800"/>
            <a:ext cx="4937760" cy="1417320"/>
          </a:xfrm>
          <a:prstGeom prst="roundRect">
            <a:avLst>
              <a:gd name="adj" fmla="val 6452"/>
            </a:avLst>
          </a:prstGeom>
          <a:solidFill>
            <a:srgbClr val="17707C"/>
          </a:solidFill>
          <a:ln w="12700">
            <a:solidFill>
              <a:srgbClr val="17707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3063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  R$ 0,33 bi/ano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5661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 mi de vacas (premissa: 25% do rebanho em fazendas com 80+ vacas e controle leiteiro)</a:t>
            </a:r>
            <a:endParaRPr lang="en-US" sz="1200" dirty="0"/>
          </a:p>
        </p:txBody>
      </p:sp>
      <p:sp>
        <p:nvSpPr>
          <p:cNvPr id="9" name="nivel"/>
          <p:cNvSpPr/>
          <p:nvPr/>
        </p:nvSpPr>
        <p:spPr>
          <a:xfrm>
            <a:off x="1280160" y="4526280"/>
            <a:ext cx="4206240" cy="1417320"/>
          </a:xfrm>
          <a:prstGeom prst="roundRect">
            <a:avLst>
              <a:gd name="adj" fmla="val 6452"/>
            </a:avLst>
          </a:prstGeom>
          <a:solidFill>
            <a:srgbClr val="7FAE3F"/>
          </a:solidFill>
          <a:ln w="12700">
            <a:solidFill>
              <a:srgbClr val="7FAE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63040" y="4617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 ano 5  R$ 13,4 mi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51206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 mil vacas, 3,8% do SAM; assinatura (ARR total R$ 19,5 mi)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137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Tendências que favorecem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1828800"/>
            <a:ext cx="4983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recorde em 2024 (+1,4%) com menos vacas (-2,8%): ganho vem de produtividade e qualidade, ou seja, de gestão.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Fazendas menores saem da atividade (-13% entre 2006 e 2017); as que ficam profissionalizam.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Laticínios pagam por qualidade (CCS, CBT, sólidos): o dado vira dinheiro.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 e WhatsApp já fazem parte da rotina rural.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TAM/SAM/SOM em reais usam o preço médio do plano base; percentual do SAM e preço são premissas a validar. Fontes: IBGE (PPM 2024; Censo 2017).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Segmentação: três portes, três planos, regiões leiteiras prioritárias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109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560320"/>
                <a:gridCol w="1645920"/>
                <a:gridCol w="3840480"/>
                <a:gridCol w="16002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Vacas em lactação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Dor principal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 na carteira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Pequeno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~120 (modelo: 80)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Essencial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Planilha e caderno; falta de histórico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a 400 (modelo: 200)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Profissional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CCS, nova infecção e decisão por lote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acima de 400 (modelo: 450)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Vários lotes e unidades; benchmark e protocolo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Regiões (ordem de entrada)</a:t>
            </a:r>
            <a:endParaRPr lang="en-US" sz="1800" dirty="0"/>
          </a:p>
        </p:txBody>
      </p:sp>
      <p:sp>
        <p:nvSpPr>
          <p:cNvPr id="5" name="card"/>
          <p:cNvSpPr/>
          <p:nvPr/>
        </p:nvSpPr>
        <p:spPr>
          <a:xfrm>
            <a:off x="548640" y="411480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6" name="num"/>
          <p:cNvSpPr/>
          <p:nvPr/>
        </p:nvSpPr>
        <p:spPr>
          <a:xfrm>
            <a:off x="731520" y="4297680"/>
            <a:ext cx="457200" cy="457200"/>
          </a:xfrm>
          <a:prstGeom prst="ellipse">
            <a:avLst/>
          </a:prstGeom>
          <a:solidFill>
            <a:srgbClr val="17707C"/>
          </a:solidFill>
          <a:ln w="12700">
            <a:solidFill>
              <a:srgbClr val="17707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427939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Sudeste: sul de Minas e Zona da Mata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9377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Proximidade do piloto; cooperativas e laticínios fortes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4297680" y="411480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11" name="num"/>
          <p:cNvSpPr/>
          <p:nvPr/>
        </p:nvSpPr>
        <p:spPr>
          <a:xfrm>
            <a:off x="4480560" y="4297680"/>
            <a:ext cx="457200" cy="457200"/>
          </a:xfrm>
          <a:prstGeom prst="ellipse">
            <a:avLst/>
          </a:prstGeom>
          <a:solidFill>
            <a:srgbClr val="17707C"/>
          </a:solidFill>
          <a:ln w="12700">
            <a:solidFill>
              <a:srgbClr val="1770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8056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074920" y="427939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Sul: oeste de SC, PR e RS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49377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Fazendas tecnificadas e alta adoção de controle leiteiro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8046720" y="411480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16" name="num"/>
          <p:cNvSpPr/>
          <p:nvPr/>
        </p:nvSpPr>
        <p:spPr>
          <a:xfrm>
            <a:off x="8229600" y="4297680"/>
            <a:ext cx="457200" cy="457200"/>
          </a:xfrm>
          <a:prstGeom prst="ellipse">
            <a:avLst/>
          </a:prstGeom>
          <a:solidFill>
            <a:srgbClr val="17707C"/>
          </a:solidFill>
          <a:ln w="12700">
            <a:solidFill>
              <a:srgbClr val="17707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823960" y="427939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Centro-Oeste: GO e entorno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275320" y="49377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por parceria com laticínios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080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das regiões é hipótese de priorização; confirmar com dados de carteira dos laticínios parceiros.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Concorrência e posicionamento: simples como planilha, profundo em qualidade do leite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1099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737360"/>
                <a:gridCol w="2103120"/>
                <a:gridCol w="1920240"/>
                <a:gridCol w="15087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Planilha e papel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Softwares internacionais de rebanho*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Sistemas de laticínio e associações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DairyUp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Foco em CCS e qualidade do leite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770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 o relatório oficial do controle leiteiro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770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Funciona offline no curral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770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 acessível, por vaca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770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Suporte local, em português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770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entre fazendas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770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892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atende bem   ◐ atende em parte   ○ não atende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548640" y="521208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3035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Posicionamento: "o painel de qualidade do leite que o encarregado entende em 5 minutos". Vantagem sustentável: dados históricos por fazenda, benchmark anônimo entre clientes, IA sobre CCS e comunidade de produtores.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72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Ex.: DairyComp, DelPro. Avaliação preliminar do time, a validar com 10 entrevistas e demonstrações dos concorrentes.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negócio (canvas)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576072" y="1399032"/>
            <a:ext cx="2093976" cy="2962656"/>
          </a:xfrm>
          <a:prstGeom prst="roundRect">
            <a:avLst>
              <a:gd name="adj" fmla="val 3493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813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Parcerias-chave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1874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Laticínios e cooperativas; associações de controle leiteiro; consultores e veterinários; AWS; empresas de nutrição e genética (patrocínio)</a:t>
            </a:r>
            <a:endParaRPr lang="en-US" sz="1150" dirty="0"/>
          </a:p>
        </p:txBody>
      </p:sp>
      <p:sp>
        <p:nvSpPr>
          <p:cNvPr id="6" name="card"/>
          <p:cNvSpPr/>
          <p:nvPr/>
        </p:nvSpPr>
        <p:spPr>
          <a:xfrm>
            <a:off x="2724912" y="1399032"/>
            <a:ext cx="2093976" cy="1453896"/>
          </a:xfrm>
          <a:prstGeom prst="roundRect">
            <a:avLst>
              <a:gd name="adj" fmla="val 5031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34640" y="14813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Atividades-chave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182880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o produto; implantar fazendas; suporte e sucesso; análise e benchmark de dados; eventos e comunidade</a:t>
            </a:r>
            <a:endParaRPr lang="en-US" sz="1150" dirty="0"/>
          </a:p>
        </p:txBody>
      </p:sp>
      <p:sp>
        <p:nvSpPr>
          <p:cNvPr id="9" name="card"/>
          <p:cNvSpPr/>
          <p:nvPr/>
        </p:nvSpPr>
        <p:spPr>
          <a:xfrm>
            <a:off x="2724912" y="2907792"/>
            <a:ext cx="2093976" cy="1453896"/>
          </a:xfrm>
          <a:prstGeom prst="roundRect">
            <a:avLst>
              <a:gd name="adj" fmla="val 5031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34640" y="29900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Recursos-chave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333756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e código; base de dados anonimizada; equipe técnica e zootécnica; marca e comunidade</a:t>
            </a:r>
            <a:endParaRPr lang="en-US" sz="1150" dirty="0"/>
          </a:p>
        </p:txBody>
      </p:sp>
      <p:sp>
        <p:nvSpPr>
          <p:cNvPr id="12" name="card"/>
          <p:cNvSpPr/>
          <p:nvPr/>
        </p:nvSpPr>
        <p:spPr>
          <a:xfrm>
            <a:off x="4873752" y="1399032"/>
            <a:ext cx="2322576" cy="2962656"/>
          </a:xfrm>
          <a:prstGeom prst="roundRect">
            <a:avLst>
              <a:gd name="adj" fmla="val 3150"/>
            </a:avLst>
          </a:prstGeom>
          <a:solidFill>
            <a:srgbClr val="12333A"/>
          </a:solidFill>
          <a:ln w="12700">
            <a:solidFill>
              <a:srgbClr val="1233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83480" y="14813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A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valor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983480" y="182880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sobre CCS e rebanho em minutos, no celular, com dados confiáveis, suporte zootécnico e preço por vaca</a:t>
            </a:r>
            <a:endParaRPr lang="en-US" sz="1150" dirty="0"/>
          </a:p>
        </p:txBody>
      </p:sp>
      <p:sp>
        <p:nvSpPr>
          <p:cNvPr id="15" name="card"/>
          <p:cNvSpPr/>
          <p:nvPr/>
        </p:nvSpPr>
        <p:spPr>
          <a:xfrm>
            <a:off x="7251192" y="1399032"/>
            <a:ext cx="2185416" cy="1453896"/>
          </a:xfrm>
          <a:prstGeom prst="roundRect">
            <a:avLst>
              <a:gd name="adj" fmla="val 5031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60920" y="14813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182880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 guiada; gerente de sucesso; comunidade; revisão periódica de resultados</a:t>
            </a:r>
            <a:endParaRPr lang="en-US" sz="1150" dirty="0"/>
          </a:p>
        </p:txBody>
      </p:sp>
      <p:sp>
        <p:nvSpPr>
          <p:cNvPr id="18" name="card"/>
          <p:cNvSpPr/>
          <p:nvPr/>
        </p:nvSpPr>
        <p:spPr>
          <a:xfrm>
            <a:off x="7251192" y="2907792"/>
            <a:ext cx="2185416" cy="1453896"/>
          </a:xfrm>
          <a:prstGeom prst="roundRect">
            <a:avLst>
              <a:gd name="adj" fmla="val 5031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60920" y="29900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Canais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360920" y="333756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Parceiros (laticínios, consultores); equipe de vendas de campo; eventos; WhatsApp e indicação</a:t>
            </a:r>
            <a:endParaRPr lang="en-US" sz="1150" dirty="0"/>
          </a:p>
        </p:txBody>
      </p:sp>
      <p:sp>
        <p:nvSpPr>
          <p:cNvPr id="21" name="card"/>
          <p:cNvSpPr/>
          <p:nvPr/>
        </p:nvSpPr>
        <p:spPr>
          <a:xfrm>
            <a:off x="9491472" y="1399032"/>
            <a:ext cx="2139696" cy="2962656"/>
          </a:xfrm>
          <a:prstGeom prst="roundRect">
            <a:avLst>
              <a:gd name="adj" fmla="val 3419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01200" y="14813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0" y="1828800"/>
            <a:ext cx="1920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Fazendas leiteiras de 50 a 1.000 vacas; consultores; laticínios como parceiros</a:t>
            </a:r>
            <a:endParaRPr lang="en-US" sz="1150" dirty="0"/>
          </a:p>
        </p:txBody>
      </p:sp>
      <p:sp>
        <p:nvSpPr>
          <p:cNvPr id="24" name="card"/>
          <p:cNvSpPr/>
          <p:nvPr/>
        </p:nvSpPr>
        <p:spPr>
          <a:xfrm>
            <a:off x="576072" y="4507992"/>
            <a:ext cx="5431536" cy="1545336"/>
          </a:xfrm>
          <a:prstGeom prst="roundRect">
            <a:avLst>
              <a:gd name="adj" fmla="val 4734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459028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custos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493776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(60% do custo total no ano 5, incluindo suporte e sucesso), infraestrutura por fazenda, aquisição, jurídico e segurança</a:t>
            </a:r>
            <a:endParaRPr lang="en-US" sz="1150" dirty="0"/>
          </a:p>
        </p:txBody>
      </p:sp>
      <p:sp>
        <p:nvSpPr>
          <p:cNvPr id="27" name="card"/>
          <p:cNvSpPr/>
          <p:nvPr/>
        </p:nvSpPr>
        <p:spPr>
          <a:xfrm>
            <a:off x="6062472" y="4507992"/>
            <a:ext cx="5568696" cy="1545336"/>
          </a:xfrm>
          <a:prstGeom prst="roundRect">
            <a:avLst>
              <a:gd name="adj" fmla="val 4734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72200" y="4590288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de receita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172200" y="4937760"/>
            <a:ext cx="5349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por vaca/mês; implantação; módulos premium; benchmark premium; licença a consultores; evento; patrocínios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Sete fontes de receita; a assinatura sustenta o negócio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80160"/>
          <a:ext cx="66751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417320"/>
          <a:ext cx="43434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554480"/>
                <a:gridCol w="11430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cobra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Assinatura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vaca/mês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R$ 13,4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Implantação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única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R$ 1,0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Módulos premium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R$ 350/fazenda/mês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R$ 1,1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premium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R$ 250/fazenda/mês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R$ 0,6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Licença consultor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R$ 600/mês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R$ 0,9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Evento anual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ingressos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R$ 0,3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Patrocínios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contratos anuais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R$ 0,9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7315200" y="521208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= 74% da receita bruta no ano 5. Preços e adoção são premissas (aba Premissas da planilha).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Preços: por vaca em lactação, com mínimo por plano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4" name="cab"/>
          <p:cNvSpPr/>
          <p:nvPr/>
        </p:nvSpPr>
        <p:spPr>
          <a:xfrm>
            <a:off x="548640" y="1371600"/>
            <a:ext cx="3611880" cy="640080"/>
          </a:xfrm>
          <a:prstGeom prst="roundRect">
            <a:avLst>
              <a:gd name="adj" fmla="val 11429"/>
            </a:avLst>
          </a:prstGeom>
          <a:solidFill>
            <a:srgbClr val="5BA3AE"/>
          </a:solidFill>
          <a:ln w="12700">
            <a:solidFill>
              <a:srgbClr val="5BA3A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Essencial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488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R$ 4,50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88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vaca/mês  |  mín. R$ 320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2004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do leite, animais, importação, painel básico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297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vacas = R$ 360/mês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663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 R$ 1.200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4297680" y="137160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12" name="cab"/>
          <p:cNvSpPr/>
          <p:nvPr/>
        </p:nvSpPr>
        <p:spPr>
          <a:xfrm>
            <a:off x="4297680" y="1371600"/>
            <a:ext cx="3611880" cy="640080"/>
          </a:xfrm>
          <a:prstGeom prst="roundRect">
            <a:avLst>
              <a:gd name="adj" fmla="val 11429"/>
            </a:avLst>
          </a:prstGeom>
          <a:solidFill>
            <a:srgbClr val="17707C"/>
          </a:solidFill>
          <a:ln w="12700">
            <a:solidFill>
              <a:srgbClr val="17707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80560" y="1417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Profissional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21488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R$ 7,00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2788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vaca/mês  |  mín. R$ 950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32004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Produção, eventos, alertas, metas por lote, benchmark básico, WhatsApp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4297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vacas = R$ 1.400/mês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4663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 R$ 2.800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8046720" y="137160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20" name="cab"/>
          <p:cNvSpPr/>
          <p:nvPr/>
        </p:nvSpPr>
        <p:spPr>
          <a:xfrm>
            <a:off x="8046720" y="1371600"/>
            <a:ext cx="3611880" cy="640080"/>
          </a:xfrm>
          <a:prstGeom prst="roundRect">
            <a:avLst>
              <a:gd name="adj" fmla="val 11429"/>
            </a:avLst>
          </a:prstGeom>
          <a:solidFill>
            <a:srgbClr val="12333A"/>
          </a:solidFill>
          <a:ln w="12700">
            <a:solidFill>
              <a:srgbClr val="1233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0" y="1417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21488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R$ 10,00</a:t>
            </a:r>
            <a:endParaRPr lang="en-US" sz="36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2788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vaca/mês  |  mín. R$ 2.000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32004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Financeiro, multiunidades, benchmark premium, apoio zootécnico mensal, CS dedicado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297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 vacas = R$ 4.500/mês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663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 R$ 6.000</a:t>
            </a:r>
            <a:endParaRPr lang="en-US" sz="1200" dirty="0"/>
          </a:p>
        </p:txBody>
      </p:sp>
      <p:sp>
        <p:nvSpPr>
          <p:cNvPr id="27" name="card"/>
          <p:cNvSpPr/>
          <p:nvPr/>
        </p:nvSpPr>
        <p:spPr>
          <a:xfrm>
            <a:off x="548640" y="5440680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548640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Mensalidade média ponderada: R$ 1.252 por fazenda (R$ 7,36 por vaca), cerca de 0,4% do faturamento de leite de uma fazenda de 200 vacas (premissa de R$ 2,40/L). Sensibilidade: preço -20%/+20% muda o VPL em R$ 3,2 mi (ver slide de cenários).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de produto e tecnologia</a:t>
            </a:r>
            <a:endParaRPr lang="en-US" sz="2600" dirty="0"/>
          </a:p>
        </p:txBody>
      </p:sp>
      <p:sp>
        <p:nvSpPr>
          <p:cNvPr id="3" name="fase"/>
          <p:cNvSpPr/>
          <p:nvPr/>
        </p:nvSpPr>
        <p:spPr>
          <a:xfrm>
            <a:off x="548640" y="141732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7FAE3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Hoje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470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</a:t>
            </a:r>
            <a:endParaRPr lang="en-US" sz="1200" dirty="0"/>
          </a:p>
        </p:txBody>
      </p:sp>
      <p:sp>
        <p:nvSpPr>
          <p:cNvPr id="6" name="card"/>
          <p:cNvSpPr/>
          <p:nvPr/>
        </p:nvSpPr>
        <p:spPr>
          <a:xfrm>
            <a:off x="548640" y="2423160"/>
            <a:ext cx="2103120" cy="3383280"/>
          </a:xfrm>
          <a:prstGeom prst="roundRect">
            <a:avLst>
              <a:gd name="adj" fmla="val 3478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560320"/>
            <a:ext cx="1874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do leite e dashboards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Importação APCBRH e mapa do laticínio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Animais, lactações, perfis e auditoria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offline</a:t>
            </a:r>
            <a:endParaRPr lang="en-US" sz="1200" dirty="0"/>
          </a:p>
        </p:txBody>
      </p:sp>
      <p:sp>
        <p:nvSpPr>
          <p:cNvPr id="8" name="fase"/>
          <p:cNvSpPr/>
          <p:nvPr/>
        </p:nvSpPr>
        <p:spPr>
          <a:xfrm>
            <a:off x="2788920" y="141732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17707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2608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M1-M6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18470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Endurecer e lançar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2788920" y="2423160"/>
            <a:ext cx="2103120" cy="3383280"/>
          </a:xfrm>
          <a:prstGeom prst="roundRect">
            <a:avLst>
              <a:gd name="adj" fmla="val 3478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26080" y="2560320"/>
            <a:ext cx="1874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Hospedagem AWS, backup e monitoramento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Segurança: pentest, LGPD, termos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Produção por vaca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cobrança e planos</a:t>
            </a:r>
            <a:endParaRPr lang="en-US" sz="1200" dirty="0"/>
          </a:p>
        </p:txBody>
      </p:sp>
      <p:sp>
        <p:nvSpPr>
          <p:cNvPr id="13" name="fase"/>
          <p:cNvSpPr/>
          <p:nvPr/>
        </p:nvSpPr>
        <p:spPr>
          <a:xfrm>
            <a:off x="5029200" y="141732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17707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6636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M7-M18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18470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Crescer o uso</a:t>
            </a:r>
            <a:endParaRPr lang="en-US" sz="1200" dirty="0"/>
          </a:p>
        </p:txBody>
      </p:sp>
      <p:sp>
        <p:nvSpPr>
          <p:cNvPr id="16" name="card"/>
          <p:cNvSpPr/>
          <p:nvPr/>
        </p:nvSpPr>
        <p:spPr>
          <a:xfrm>
            <a:off x="5029200" y="2423160"/>
            <a:ext cx="2103120" cy="3383280"/>
          </a:xfrm>
          <a:prstGeom prst="roundRect">
            <a:avLst>
              <a:gd name="adj" fmla="val 3478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66360" y="2560320"/>
            <a:ext cx="1874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reprodutivos e bezerras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por WhatsApp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Importadores de mais laticínios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 do consultor (v1)</a:t>
            </a:r>
            <a:endParaRPr lang="en-US" sz="1200" dirty="0"/>
          </a:p>
        </p:txBody>
      </p:sp>
      <p:sp>
        <p:nvSpPr>
          <p:cNvPr id="18" name="fase"/>
          <p:cNvSpPr/>
          <p:nvPr/>
        </p:nvSpPr>
        <p:spPr>
          <a:xfrm>
            <a:off x="7269480" y="141732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17707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0664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M19-M36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406640" y="18470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</a:t>
            </a:r>
            <a:endParaRPr lang="en-US" sz="1200" dirty="0"/>
          </a:p>
        </p:txBody>
      </p:sp>
      <p:sp>
        <p:nvSpPr>
          <p:cNvPr id="21" name="card"/>
          <p:cNvSpPr/>
          <p:nvPr/>
        </p:nvSpPr>
        <p:spPr>
          <a:xfrm>
            <a:off x="7269480" y="2423160"/>
            <a:ext cx="2103120" cy="3383280"/>
          </a:xfrm>
          <a:prstGeom prst="roundRect">
            <a:avLst>
              <a:gd name="adj" fmla="val 3478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06640" y="2560320"/>
            <a:ext cx="1874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 e áreas agrícolas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premium anônimo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IA: risco de mastite e CCS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ordenhadeiras</a:t>
            </a:r>
            <a:endParaRPr lang="en-US" sz="1200" dirty="0"/>
          </a:p>
        </p:txBody>
      </p:sp>
      <p:sp>
        <p:nvSpPr>
          <p:cNvPr id="23" name="fase"/>
          <p:cNvSpPr/>
          <p:nvPr/>
        </p:nvSpPr>
        <p:spPr>
          <a:xfrm>
            <a:off x="9509760" y="141732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17707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4692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M37-M60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646920" y="18470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</a:t>
            </a:r>
            <a:endParaRPr lang="en-US" sz="1200" dirty="0"/>
          </a:p>
        </p:txBody>
      </p:sp>
      <p:sp>
        <p:nvSpPr>
          <p:cNvPr id="26" name="card"/>
          <p:cNvSpPr/>
          <p:nvPr/>
        </p:nvSpPr>
        <p:spPr>
          <a:xfrm>
            <a:off x="9509760" y="2423160"/>
            <a:ext cx="2103120" cy="3383280"/>
          </a:xfrm>
          <a:prstGeom prst="roundRect">
            <a:avLst>
              <a:gd name="adj" fmla="val 3478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646920" y="2560320"/>
            <a:ext cx="1874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aberta e parceiros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de serviços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a outros países da região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Certificação de usuários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 do roadmap segue o ciclo: provar valor em qualidade do leite, depois aumentar frequência de uso (produção, eventos) e por fim criar dados únicos (benchmark e IA).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Arquitetura, segurança e LGPD: um banco por fazenda</a:t>
            </a:r>
            <a:endParaRPr lang="en-US" sz="2600" dirty="0"/>
          </a:p>
        </p:txBody>
      </p:sp>
      <p:sp>
        <p:nvSpPr>
          <p:cNvPr id="3" name="bloco"/>
          <p:cNvSpPr/>
          <p:nvPr/>
        </p:nvSpPr>
        <p:spPr>
          <a:xfrm>
            <a:off x="548640" y="155448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5BA3AE"/>
          </a:solidFill>
          <a:ln w="12700">
            <a:solidFill>
              <a:srgbClr val="5BA3A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 da equipe (PWA offline)</a:t>
            </a:r>
            <a:endParaRPr lang="en-US" sz="1300" dirty="0"/>
          </a:p>
        </p:txBody>
      </p:sp>
      <p:sp>
        <p:nvSpPr>
          <p:cNvPr id="5" name="bloco"/>
          <p:cNvSpPr/>
          <p:nvPr/>
        </p:nvSpPr>
        <p:spPr>
          <a:xfrm>
            <a:off x="548640" y="265176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5BA3AE"/>
          </a:solidFill>
          <a:ln w="12700">
            <a:solidFill>
              <a:srgbClr val="5BA3A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6517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do gestor</a:t>
            </a:r>
            <a:endParaRPr lang="en-US" sz="1300" dirty="0"/>
          </a:p>
        </p:txBody>
      </p:sp>
      <p:sp>
        <p:nvSpPr>
          <p:cNvPr id="7" name="bloco"/>
          <p:cNvSpPr/>
          <p:nvPr/>
        </p:nvSpPr>
        <p:spPr>
          <a:xfrm>
            <a:off x="548640" y="374904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5BA3AE"/>
          </a:solidFill>
          <a:ln w="12700">
            <a:solidFill>
              <a:srgbClr val="5BA3A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7490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Planilhas e relatórios oficiais</a:t>
            </a:r>
            <a:endParaRPr lang="en-US" sz="1300" dirty="0"/>
          </a:p>
        </p:txBody>
      </p:sp>
      <p:sp>
        <p:nvSpPr>
          <p:cNvPr id="9" name="bloco"/>
          <p:cNvSpPr/>
          <p:nvPr/>
        </p:nvSpPr>
        <p:spPr>
          <a:xfrm>
            <a:off x="3291840" y="2194560"/>
            <a:ext cx="2194560" cy="1645920"/>
          </a:xfrm>
          <a:prstGeom prst="roundRect">
            <a:avLst>
              <a:gd name="adj" fmla="val 4444"/>
            </a:avLst>
          </a:prstGeom>
          <a:solidFill>
            <a:srgbClr val="17707C"/>
          </a:solidFill>
          <a:ln w="12700">
            <a:solidFill>
              <a:srgbClr val="17707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2194560"/>
            <a:ext cx="2011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Balanceador + API (Fastify, Node 22)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imagem para todas as fazendas</a:t>
            </a:r>
            <a:endParaRPr lang="en-US" sz="1300" dirty="0"/>
          </a:p>
        </p:txBody>
      </p:sp>
      <p:sp>
        <p:nvSpPr>
          <p:cNvPr id="11" name="bloco"/>
          <p:cNvSpPr/>
          <p:nvPr/>
        </p:nvSpPr>
        <p:spPr>
          <a:xfrm>
            <a:off x="6309360" y="141732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12333A"/>
          </a:solidFill>
          <a:ln w="12700">
            <a:solidFill>
              <a:srgbClr val="1233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14173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Fazenda A</a:t>
            </a:r>
            <a:endParaRPr lang="en-US" sz="1200" dirty="0"/>
          </a:p>
        </p:txBody>
      </p:sp>
      <p:sp>
        <p:nvSpPr>
          <p:cNvPr id="13" name="bloco"/>
          <p:cNvSpPr/>
          <p:nvPr/>
        </p:nvSpPr>
        <p:spPr>
          <a:xfrm>
            <a:off x="6309360" y="242316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12333A"/>
          </a:solidFill>
          <a:ln w="12700">
            <a:solidFill>
              <a:srgbClr val="1233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2423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Fazenda B</a:t>
            </a:r>
            <a:endParaRPr lang="en-US" sz="1200" dirty="0"/>
          </a:p>
        </p:txBody>
      </p:sp>
      <p:sp>
        <p:nvSpPr>
          <p:cNvPr id="15" name="bloco"/>
          <p:cNvSpPr/>
          <p:nvPr/>
        </p:nvSpPr>
        <p:spPr>
          <a:xfrm>
            <a:off x="6309360" y="342900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12333A"/>
          </a:solidFill>
          <a:ln w="12700">
            <a:solidFill>
              <a:srgbClr val="1233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0" y="3429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Fazenda C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4251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...N fazendas</a:t>
            </a:r>
            <a:endParaRPr lang="en-US" sz="1200" dirty="0"/>
          </a:p>
        </p:txBody>
      </p:sp>
      <p:sp>
        <p:nvSpPr>
          <p:cNvPr id="18" name="bloco"/>
          <p:cNvSpPr/>
          <p:nvPr/>
        </p:nvSpPr>
        <p:spPr>
          <a:xfrm>
            <a:off x="8869680" y="1554480"/>
            <a:ext cx="2788920" cy="822960"/>
          </a:xfrm>
          <a:prstGeom prst="roundRect">
            <a:avLst>
              <a:gd name="adj" fmla="val 8889"/>
            </a:avLst>
          </a:prstGeom>
          <a:solidFill>
            <a:srgbClr val="7FAE3F"/>
          </a:solidFill>
          <a:ln w="12700">
            <a:solidFill>
              <a:srgbClr val="7FAE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961120" y="15544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Secrets Manager</a:t>
            </a:r>
            <a:endParaRPr lang="en-US" sz="1300" dirty="0"/>
          </a:p>
        </p:txBody>
      </p:sp>
      <p:sp>
        <p:nvSpPr>
          <p:cNvPr id="20" name="bloco"/>
          <p:cNvSpPr/>
          <p:nvPr/>
        </p:nvSpPr>
        <p:spPr>
          <a:xfrm>
            <a:off x="8869680" y="2651760"/>
            <a:ext cx="2788920" cy="822960"/>
          </a:xfrm>
          <a:prstGeom prst="roundRect">
            <a:avLst>
              <a:gd name="adj" fmla="val 8889"/>
            </a:avLst>
          </a:prstGeom>
          <a:solidFill>
            <a:srgbClr val="7FAE3F"/>
          </a:solidFill>
          <a:ln w="12700">
            <a:solidFill>
              <a:srgbClr val="7FAE3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61120" y="26517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diários + restauração testada</a:t>
            </a:r>
            <a:endParaRPr lang="en-US" sz="1300" dirty="0"/>
          </a:p>
        </p:txBody>
      </p:sp>
      <p:sp>
        <p:nvSpPr>
          <p:cNvPr id="22" name="bloco"/>
          <p:cNvSpPr/>
          <p:nvPr/>
        </p:nvSpPr>
        <p:spPr>
          <a:xfrm>
            <a:off x="8869680" y="3749040"/>
            <a:ext cx="2788920" cy="822960"/>
          </a:xfrm>
          <a:prstGeom prst="roundRect">
            <a:avLst>
              <a:gd name="adj" fmla="val 8889"/>
            </a:avLst>
          </a:prstGeom>
          <a:solidFill>
            <a:srgbClr val="7FAE3F"/>
          </a:solidFill>
          <a:ln w="12700">
            <a:solidFill>
              <a:srgbClr val="7FAE3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961120" y="37490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e alertas</a:t>
            </a:r>
            <a:endParaRPr lang="en-US" sz="1300" dirty="0"/>
          </a:p>
        </p:txBody>
      </p:sp>
      <p:sp>
        <p:nvSpPr>
          <p:cNvPr id="24" name="seta"/>
          <p:cNvSpPr/>
          <p:nvPr/>
        </p:nvSpPr>
        <p:spPr>
          <a:xfrm>
            <a:off x="2651760" y="3017520"/>
            <a:ext cx="640080" cy="0"/>
          </a:xfrm>
          <a:prstGeom prst="line">
            <a:avLst/>
          </a:prstGeom>
          <a:noFill/>
          <a:ln w="25400">
            <a:solidFill>
              <a:srgbClr val="5B6B70"/>
            </a:solidFill>
            <a:prstDash val="solid"/>
            <a:tailEnd type="triangle"/>
          </a:ln>
        </p:spPr>
      </p:sp>
      <p:sp>
        <p:nvSpPr>
          <p:cNvPr id="25" name="seta"/>
          <p:cNvSpPr/>
          <p:nvPr/>
        </p:nvSpPr>
        <p:spPr>
          <a:xfrm>
            <a:off x="5486400" y="3017520"/>
            <a:ext cx="822960" cy="0"/>
          </a:xfrm>
          <a:prstGeom prst="line">
            <a:avLst/>
          </a:prstGeom>
          <a:noFill/>
          <a:ln w="25400">
            <a:solidFill>
              <a:srgbClr val="5B6B70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548640" y="4846320"/>
            <a:ext cx="11109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Isolamento total: nenhum dado de uma fazenda no banco de outra.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Senhas com scrypt; bloqueio de 15 min após 5 erros; sessão encerrada ao desativar o usuário.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de toda alteração; exclusão lógica (recuperável).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LGPD: contrato de operador, DPO terceirizado, política de privacidade, retenção e exportação dos dados do cliente.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comercial: funil, metas, CAC, LTV e payback</a:t>
            </a:r>
            <a:endParaRPr lang="en-US" sz="2600" dirty="0"/>
          </a:p>
        </p:txBody>
      </p:sp>
      <p:sp>
        <p:nvSpPr>
          <p:cNvPr id="3" name="funil"/>
          <p:cNvSpPr/>
          <p:nvPr/>
        </p:nvSpPr>
        <p:spPr>
          <a:xfrm>
            <a:off x="548640" y="141732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5BA3AE"/>
          </a:solidFill>
          <a:ln w="12700">
            <a:solidFill>
              <a:srgbClr val="5BA3A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1.920  Leads qualificados</a:t>
            </a:r>
            <a:endParaRPr lang="en-US" sz="1800" dirty="0"/>
          </a:p>
        </p:txBody>
      </p:sp>
      <p:sp>
        <p:nvSpPr>
          <p:cNvPr id="5" name="funil"/>
          <p:cNvSpPr/>
          <p:nvPr/>
        </p:nvSpPr>
        <p:spPr>
          <a:xfrm>
            <a:off x="1097280" y="251460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17707C"/>
          </a:solidFill>
          <a:ln w="12700">
            <a:solidFill>
              <a:srgbClr val="17707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51460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576  Demonstrações</a:t>
            </a:r>
            <a:endParaRPr lang="en-US" sz="1800" dirty="0"/>
          </a:p>
        </p:txBody>
      </p:sp>
      <p:sp>
        <p:nvSpPr>
          <p:cNvPr id="7" name="funil"/>
          <p:cNvSpPr/>
          <p:nvPr/>
        </p:nvSpPr>
        <p:spPr>
          <a:xfrm>
            <a:off x="1645920" y="361188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12333A"/>
          </a:solidFill>
          <a:ln w="12700">
            <a:solidFill>
              <a:srgbClr val="1233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45920" y="36118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  Novas fazendas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548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 (base): conversão lead&gt;demo 30% e demo&gt;cliente 25% (premissas a validar nos pilotos).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417320"/>
          <a:ext cx="56235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051560"/>
                <a:gridCol w="1051560"/>
                <a:gridCol w="10515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Novas fazendas/ano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 combinado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R$ 6.512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R$ 6.176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R$ 7.052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Contribuição/fazenda/mês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R$ 899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R$ 1.086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R$ 57.665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R$ 74.941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R$ 90.496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LTV / CAC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8,9x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12,1x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12,8x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Payback do CAC (meses)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anual de fazendas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6035040" y="5212080"/>
            <a:ext cx="5623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= (vendas, comissão, aquisição, marketing) / novas fazendas. LTV = contribuição mensal / churn mensal. Ano 1 não é representativo (poucos clientes).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Go-to-market: parceiros primeiro, venda direta depois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548640" y="141732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Laticínios e cooperativas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574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Oferecem o DairyUp a seus fornecedores; ganham dado de qualidade; patrocínio e comissão de indicação.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1546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3 parceiros até o mês 12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4297680" y="141732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15544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Consultores e veterinários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0574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 o painel multi-fazendas (licença) e indicam clientes.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31546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12 licenças no ano 2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8046720" y="141732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0" y="15544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Associações de controle leiteiro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20574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Importação do relatório oficial; presença em dias de campo.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31546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2 convênios no ano 1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548640" y="384048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9776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Equipe de vendas de campo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48056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Visita, demonstração com os dados da própria fazenda e piloto de 30 dias.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5778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1 executivo (ano 1) a 3 (ano 5)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4297680" y="384048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80560" y="39776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Evento e comunidade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480560" y="448056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anual de qualidade do leite, grupo de produtores no WhatsApp, conteúdo técnico.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55778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150 inscritos no ano 2</a:t>
            </a:r>
            <a:endParaRPr lang="en-US" sz="1200" dirty="0"/>
          </a:p>
        </p:txBody>
      </p:sp>
      <p:sp>
        <p:nvSpPr>
          <p:cNvPr id="23" name="card"/>
          <p:cNvSpPr/>
          <p:nvPr/>
        </p:nvSpPr>
        <p:spPr>
          <a:xfrm>
            <a:off x="8046720" y="384048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0" y="39776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Indicação de clientes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48056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Desconto de implantação para quem indica; casos de sucesso.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55778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20% das vendas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Implantação: primeiro valor em até 7 dias</a:t>
            </a:r>
            <a:endParaRPr lang="en-US" sz="2600" dirty="0"/>
          </a:p>
        </p:txBody>
      </p:sp>
      <p:sp>
        <p:nvSpPr>
          <p:cNvPr id="3" name="etapa"/>
          <p:cNvSpPr/>
          <p:nvPr/>
        </p:nvSpPr>
        <p:spPr>
          <a:xfrm>
            <a:off x="548640" y="1463040"/>
            <a:ext cx="2194560" cy="822960"/>
          </a:xfrm>
          <a:prstGeom prst="chevron">
            <a:avLst/>
          </a:prstGeom>
          <a:solidFill>
            <a:srgbClr val="17707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4630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0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2468880"/>
            <a:ext cx="2103120" cy="1920240"/>
          </a:xfrm>
          <a:prstGeom prst="roundRect">
            <a:avLst>
              <a:gd name="adj" fmla="val 3810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e cadastro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0175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Fazenda criada com banco próprio, usuários e perfis</a:t>
            </a:r>
            <a:endParaRPr lang="en-US" sz="1200" dirty="0"/>
          </a:p>
        </p:txBody>
      </p:sp>
      <p:sp>
        <p:nvSpPr>
          <p:cNvPr id="8" name="etapa"/>
          <p:cNvSpPr/>
          <p:nvPr/>
        </p:nvSpPr>
        <p:spPr>
          <a:xfrm>
            <a:off x="2788920" y="1463040"/>
            <a:ext cx="2194560" cy="822960"/>
          </a:xfrm>
          <a:prstGeom prst="chevron">
            <a:avLst/>
          </a:prstGeom>
          <a:solidFill>
            <a:srgbClr val="17707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0" y="14630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1-3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2788920" y="2468880"/>
            <a:ext cx="2103120" cy="1920240"/>
          </a:xfrm>
          <a:prstGeom prst="roundRect">
            <a:avLst>
              <a:gd name="adj" fmla="val 3810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2608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históricos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30175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Importação do controle leiteiro e do mapa do laticínio</a:t>
            </a:r>
            <a:endParaRPr lang="en-US" sz="1200" dirty="0"/>
          </a:p>
        </p:txBody>
      </p:sp>
      <p:sp>
        <p:nvSpPr>
          <p:cNvPr id="13" name="etapa"/>
          <p:cNvSpPr/>
          <p:nvPr/>
        </p:nvSpPr>
        <p:spPr>
          <a:xfrm>
            <a:off x="5029200" y="1463040"/>
            <a:ext cx="2194560" cy="822960"/>
          </a:xfrm>
          <a:prstGeom prst="chevron">
            <a:avLst/>
          </a:prstGeom>
          <a:solidFill>
            <a:srgbClr val="7FAE3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40680" y="14630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4-7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5029200" y="2468880"/>
            <a:ext cx="2103120" cy="1920240"/>
          </a:xfrm>
          <a:prstGeom prst="roundRect">
            <a:avLst>
              <a:gd name="adj" fmla="val 3810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6636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valor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166360" y="30175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com CCS, situação das vacas e metas definidas</a:t>
            </a:r>
            <a:endParaRPr lang="en-US" sz="1200" dirty="0"/>
          </a:p>
        </p:txBody>
      </p:sp>
      <p:sp>
        <p:nvSpPr>
          <p:cNvPr id="18" name="etapa"/>
          <p:cNvSpPr/>
          <p:nvPr/>
        </p:nvSpPr>
        <p:spPr>
          <a:xfrm>
            <a:off x="7269480" y="1463040"/>
            <a:ext cx="2194560" cy="822960"/>
          </a:xfrm>
          <a:prstGeom prst="chevron">
            <a:avLst/>
          </a:prstGeom>
          <a:solidFill>
            <a:srgbClr val="17707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680960" y="14630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8-21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7269480" y="2468880"/>
            <a:ext cx="2103120" cy="1920240"/>
          </a:xfrm>
          <a:prstGeom prst="roundRect">
            <a:avLst>
              <a:gd name="adj" fmla="val 3810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0664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30175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de campo (lançamento) e gestor (painel)</a:t>
            </a:r>
            <a:endParaRPr lang="en-US" sz="1200" dirty="0"/>
          </a:p>
        </p:txBody>
      </p:sp>
      <p:sp>
        <p:nvSpPr>
          <p:cNvPr id="23" name="etapa"/>
          <p:cNvSpPr/>
          <p:nvPr/>
        </p:nvSpPr>
        <p:spPr>
          <a:xfrm>
            <a:off x="9509760" y="1463040"/>
            <a:ext cx="2194560" cy="822960"/>
          </a:xfrm>
          <a:prstGeom prst="chevron">
            <a:avLst/>
          </a:prstGeom>
          <a:solidFill>
            <a:srgbClr val="17707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921240" y="14630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30</a:t>
            </a:r>
            <a:endParaRPr lang="en-US" sz="1400" dirty="0"/>
          </a:p>
        </p:txBody>
      </p:sp>
      <p:sp>
        <p:nvSpPr>
          <p:cNvPr id="25" name="card"/>
          <p:cNvSpPr/>
          <p:nvPr/>
        </p:nvSpPr>
        <p:spPr>
          <a:xfrm>
            <a:off x="9509760" y="2468880"/>
            <a:ext cx="2103120" cy="1920240"/>
          </a:xfrm>
          <a:prstGeom prst="roundRect">
            <a:avLst>
              <a:gd name="adj" fmla="val 3810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4692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646920" y="30175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e zootecnista revisam resultados e protocolo</a:t>
            </a:r>
            <a:endParaRPr lang="en-US" sz="1200" dirty="0"/>
          </a:p>
        </p:txBody>
      </p:sp>
      <p:sp>
        <p:nvSpPr>
          <p:cNvPr id="28" name="stat"/>
          <p:cNvSpPr/>
          <p:nvPr/>
        </p:nvSpPr>
        <p:spPr>
          <a:xfrm>
            <a:off x="548640" y="466344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477316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70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7 dias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54681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 tempo até o primeiro valor</a:t>
            </a:r>
            <a:endParaRPr lang="en-US" sz="1200" dirty="0"/>
          </a:p>
        </p:txBody>
      </p:sp>
      <p:sp>
        <p:nvSpPr>
          <p:cNvPr id="31" name="stat"/>
          <p:cNvSpPr/>
          <p:nvPr/>
        </p:nvSpPr>
        <p:spPr>
          <a:xfrm>
            <a:off x="4297680" y="466344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480560" y="477316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70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~25 h</a:t>
            </a:r>
            <a:endParaRPr lang="en-US" sz="3000" dirty="0"/>
          </a:p>
        </p:txBody>
      </p:sp>
      <p:sp>
        <p:nvSpPr>
          <p:cNvPr id="33" name="Text 31"/>
          <p:cNvSpPr txBox="1"/>
          <p:nvPr/>
        </p:nvSpPr>
        <p:spPr>
          <a:xfrm>
            <a:off x="4480560" y="54681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esforço de implantação por fazenda (premissa)</a:t>
            </a:r>
            <a:endParaRPr lang="en-US" sz="1200" dirty="0"/>
          </a:p>
        </p:txBody>
      </p:sp>
      <p:sp>
        <p:nvSpPr>
          <p:cNvPr id="34" name="stat"/>
          <p:cNvSpPr/>
          <p:nvPr/>
        </p:nvSpPr>
        <p:spPr>
          <a:xfrm>
            <a:off x="8046720" y="4663440"/>
            <a:ext cx="3611880" cy="1325880"/>
          </a:xfrm>
          <a:prstGeom prst="roundRect">
            <a:avLst>
              <a:gd name="adj" fmla="val 5517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29600" y="4773168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FA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R$ 2.384</a:t>
            </a:r>
            <a:endParaRPr lang="en-US" sz="3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546811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 média cobrada (mix de planos)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Suporte: três níveis, canais e SLAs por plano</a:t>
            </a:r>
            <a:endParaRPr lang="en-US" sz="2600" dirty="0"/>
          </a:p>
        </p:txBody>
      </p:sp>
      <p:sp>
        <p:nvSpPr>
          <p:cNvPr id="3" name="nivel"/>
          <p:cNvSpPr/>
          <p:nvPr/>
        </p:nvSpPr>
        <p:spPr>
          <a:xfrm>
            <a:off x="548640" y="1463040"/>
            <a:ext cx="685800" cy="685800"/>
          </a:xfrm>
          <a:prstGeom prst="ellipse">
            <a:avLst/>
          </a:prstGeom>
          <a:solidFill>
            <a:srgbClr val="17707C"/>
          </a:solidFill>
          <a:ln w="12700">
            <a:solidFill>
              <a:srgbClr val="17707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737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 de uso, acesso, importação simples. Chat, WhatsApp, e-mail.</a:t>
            </a:r>
            <a:endParaRPr lang="en-US" sz="1100" dirty="0"/>
          </a:p>
        </p:txBody>
      </p:sp>
      <p:sp>
        <p:nvSpPr>
          <p:cNvPr id="7" name="nivel"/>
          <p:cNvSpPr/>
          <p:nvPr/>
        </p:nvSpPr>
        <p:spPr>
          <a:xfrm>
            <a:off x="548640" y="2514600"/>
            <a:ext cx="685800" cy="685800"/>
          </a:xfrm>
          <a:prstGeom prst="ellipse">
            <a:avLst/>
          </a:prstGeom>
          <a:solidFill>
            <a:srgbClr val="17707C"/>
          </a:solidFill>
          <a:ln w="12700">
            <a:solidFill>
              <a:srgbClr val="17707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14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Zootécnico e técnico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7889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Interpretação de indicadores, protocolos e dados de importação complexos.</a:t>
            </a:r>
            <a:endParaRPr lang="en-US" sz="1100" dirty="0"/>
          </a:p>
        </p:txBody>
      </p:sp>
      <p:sp>
        <p:nvSpPr>
          <p:cNvPr id="11" name="nivel"/>
          <p:cNvSpPr/>
          <p:nvPr/>
        </p:nvSpPr>
        <p:spPr>
          <a:xfrm>
            <a:off x="548640" y="3566160"/>
            <a:ext cx="685800" cy="685800"/>
          </a:xfrm>
          <a:prstGeom prst="ellipse">
            <a:avLst/>
          </a:prstGeom>
          <a:solidFill>
            <a:srgbClr val="17707C"/>
          </a:solidFill>
          <a:ln w="12700">
            <a:solidFill>
              <a:srgbClr val="17707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566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840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Falhas do sistema; plantão rotativo do time de desenvolvimento.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1371600"/>
          <a:ext cx="7726680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1645920"/>
                <a:gridCol w="164592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Essencial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Profissional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Chat, e-mail, 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WhatsApp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telefone, CS dedicado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Horário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Seg-Sex 8-18h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Seg-Sáb 6-19h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Seg-Sáb 6-20h + plantão P1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 crítica: resposta / resolução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h úteis / 24 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h / 8 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min / 4 h (24x7)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 alta: resposta / resolução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h úteis / 3 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h / 2 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 / 1 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 média: resposta / resolução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 / 5 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h / 3 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h / 2 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Apoio zootécnico (N2)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 demanda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consultas/mês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ilimitado + revisão mensal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Disponibilidade-alvo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548640" y="51663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sistema fora do ar ou dado incorreto. P2: função principal degradada ou importação falhando. P3: dúvida de uso ou falha com contorno. Prazos de resposta valem dentro do horário do plano.</a:t>
            </a:r>
            <a:endParaRPr lang="en-US" sz="1150" dirty="0"/>
          </a:p>
        </p:txBody>
      </p:sp>
      <p:sp>
        <p:nvSpPr>
          <p:cNvPr id="17" name="card"/>
          <p:cNvSpPr/>
          <p:nvPr/>
        </p:nvSpPr>
        <p:spPr>
          <a:xfrm>
            <a:off x="548640" y="5623560"/>
            <a:ext cx="11109960" cy="640080"/>
          </a:xfrm>
          <a:prstGeom prst="roundRect">
            <a:avLst>
              <a:gd name="adj" fmla="val 11429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6235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 qualidade: resolução no primeiro contato ≥ 70%, CSAT ≥ 4,5/5, NPS ≥ 50, primeira resposta dentro do SLA em ≥ 95% dos chamados.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Suporte escala por fazendas e vacas: custo por cliente cai 70% até 800 fazendas</a:t>
            </a:r>
            <a:endParaRPr lang="en-US" sz="2600" dirty="0"/>
          </a:p>
        </p:txBody>
      </p:sp>
      <p:pic>
        <p:nvPicPr>
          <p:cNvPr id="3" name="grafico suporte" descr="c_sup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5394960" cy="2788920"/>
          </a:xfrm>
          <a:prstGeom prst="rect">
            <a:avLst/>
          </a:prstGeom>
        </p:spPr>
      </p:pic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417320"/>
          <a:ext cx="56692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457200"/>
                <a:gridCol w="457200"/>
                <a:gridCol w="457200"/>
                <a:gridCol w="548640"/>
                <a:gridCol w="82296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Fazendas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R$/faz.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R$ 1.227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R$ 442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R$ 442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R$ 381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R$ 357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57200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Razões de capacidade: 1 N1 a cada 150 fazendas (a partir de 30), 1 CS a cada 100, 1 analista N2 a cada 30 mil vacas, 1 implantador a cada 8 novas fazendas/mês.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24 pessoas em suporte e sucesso no ano 5, 1,81 R$/vaca/mês, 17% da receita líquida.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incluem ferramentas (helpdesk, CRM), infraestrutura e mensageria por fazenda.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Sucesso do cliente: health score, revisões e alerta de cancelamento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447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(40%)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Acessos semanais, lançamentos por semana, usuários ativos</a:t>
            </a:r>
            <a:endParaRPr lang="en-US" sz="1200" dirty="0"/>
          </a:p>
        </p:txBody>
      </p:sp>
      <p:sp>
        <p:nvSpPr>
          <p:cNvPr id="6" name="card"/>
          <p:cNvSpPr/>
          <p:nvPr/>
        </p:nvSpPr>
        <p:spPr>
          <a:xfrm>
            <a:off x="548640" y="233172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4048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(25%)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432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leiteiro importado em dia; tanque atualizado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548640" y="329184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3649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(20%)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7033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de CCS e retenção de vacas sadias evoluindo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548640" y="425196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3251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 (15%)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663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CSAT, NPS, chamados abertos e participação nas revisões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371600"/>
          <a:ext cx="54406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794760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Faixa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Ação do 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FA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Verde (80-100)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Plano de expansão: módulos, benchmark, indicar vizinhos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977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Amarelo (50-79)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Contato em 3 dias úteis; retreinamento; revisão de metas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Vermelho (&lt;50)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Alerta de cancelamento: ligação do gerente de CS em 24 h e plano de recuperação de 30 dias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6217920" y="42976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Cadência de revisões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0" y="4709160"/>
            <a:ext cx="5440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30 e dia 90 após a implantação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Trimestral (Essencial/Profissional), mensal (Premium)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Anual: renegociação e expansão de módulos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4864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Metas: churn anual ≤ 13,5%; adoção de módulos premium 30% no ano 5; NPS ≥ 50.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Organização e equipe: enxuta, com suporte crescendo junto com os clientes</a:t>
            </a:r>
            <a:endParaRPr lang="en-US" sz="2600" dirty="0"/>
          </a:p>
        </p:txBody>
      </p:sp>
      <p:pic>
        <p:nvPicPr>
          <p:cNvPr id="3" name="grafico equipe" descr="c_h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5852160" cy="3017520"/>
          </a:xfrm>
          <a:prstGeom prst="rect">
            <a:avLst/>
          </a:prstGeom>
        </p:spPr>
      </p:pic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417320"/>
          <a:ext cx="521208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548640"/>
                <a:gridCol w="548640"/>
                <a:gridCol w="548640"/>
                <a:gridCol w="548640"/>
                <a:gridCol w="5486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Fim do ano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Tecnologia, dados e produto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Zootecnia e vet (conteúdo)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Comercial e marketing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Direção e administrativo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Suporte, CS e implantação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57200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(M1-M6): time-núcleo de 7 pessoas: direção, tech lead, 2 desenvolvedores, produto, zootecnista e vendas.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Contratações de suporte e CS seguem o número de fazendas, não o calendário.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médio por pessoa: de R$ 4.500 (N1) a R$ 22.000 (tech lead) por mês, com encargos; reajuste 5% ao ano.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Financeiro (base): receita de R$ 15,7 mi e EBITDA de R$ 5,0 mi no ano 5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80160"/>
          <a:ext cx="67665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"/>
          <p:cNvSpPr/>
          <p:nvPr/>
        </p:nvSpPr>
        <p:spPr>
          <a:xfrm>
            <a:off x="7498080" y="1371600"/>
            <a:ext cx="2011680" cy="1325880"/>
          </a:xfrm>
          <a:prstGeom prst="roundRect">
            <a:avLst>
              <a:gd name="adj" fmla="val 5517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680960" y="1481328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70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860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21762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fazendas (ano 5)</a:t>
            </a:r>
            <a:endParaRPr lang="en-US" sz="1200" dirty="0"/>
          </a:p>
        </p:txBody>
      </p:sp>
      <p:sp>
        <p:nvSpPr>
          <p:cNvPr id="7" name="stat"/>
          <p:cNvSpPr/>
          <p:nvPr/>
        </p:nvSpPr>
        <p:spPr>
          <a:xfrm>
            <a:off x="9646920" y="1371600"/>
            <a:ext cx="2011680" cy="1325880"/>
          </a:xfrm>
          <a:prstGeom prst="roundRect">
            <a:avLst>
              <a:gd name="adj" fmla="val 5517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829800" y="1481328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70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146 mil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9829800" y="21762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vacas atendidas</a:t>
            </a:r>
            <a:endParaRPr lang="en-US" sz="1200" dirty="0"/>
          </a:p>
        </p:txBody>
      </p:sp>
      <p:sp>
        <p:nvSpPr>
          <p:cNvPr id="10" name="stat"/>
          <p:cNvSpPr/>
          <p:nvPr/>
        </p:nvSpPr>
        <p:spPr>
          <a:xfrm>
            <a:off x="7498080" y="2834640"/>
            <a:ext cx="2011680" cy="1325880"/>
          </a:xfrm>
          <a:prstGeom prst="roundRect">
            <a:avLst>
              <a:gd name="adj" fmla="val 5517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680960" y="2944368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A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7680960" y="36393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bruta (ano 5)</a:t>
            </a:r>
            <a:endParaRPr lang="en-US" sz="1200" dirty="0"/>
          </a:p>
        </p:txBody>
      </p:sp>
      <p:sp>
        <p:nvSpPr>
          <p:cNvPr id="13" name="stat"/>
          <p:cNvSpPr/>
          <p:nvPr/>
        </p:nvSpPr>
        <p:spPr>
          <a:xfrm>
            <a:off x="9646920" y="2834640"/>
            <a:ext cx="2011680" cy="1325880"/>
          </a:xfrm>
          <a:prstGeom prst="roundRect">
            <a:avLst>
              <a:gd name="adj" fmla="val 5517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829800" y="2944368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A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32%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9829800" y="36393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EBITDA (ano 5)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498080" y="4389120"/>
            <a:ext cx="4160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virada: EBITDA positivo a partir do mês 32. Anos 1 e 2 têm margem bruta baixa porque o time de suporte e a infraestrutura existem antes da escala.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 resumida do cenário base (R$ mil)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109960" cy="914400"/>
        </p:xfrm>
        <a:graphic>
          <a:graphicData uri="http://schemas.openxmlformats.org/drawingml/2006/table">
            <a:tbl>
              <a:tblPr/>
              <a:tblGrid>
                <a:gridCol w="3794760"/>
                <a:gridCol w="1463040"/>
                <a:gridCol w="1463040"/>
                <a:gridCol w="1463040"/>
                <a:gridCol w="1463040"/>
                <a:gridCol w="146304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mil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bruta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(-) Tributos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-1.604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-2.551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líquida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(-) Custo dos serviços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-1.562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-2.692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-3.904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Lucro bruto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(-) Equipe fixa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-1.296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-2.104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-2.209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-2.834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-3.924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(-) Comercial e marketing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-1.334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-1.866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-2.335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(-) Gerais, jurídico e pontuais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-1.838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-1.894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Fluxo de caixa operacional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-1.736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-1.854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Caixa final (com aportes)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planilha DairyUp_Modelo_Financeiro.xlsx (abas Anual e Mensal). Balanço, fluxo completo e memória de cálculo estão no plano de negócios (anexos).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Cenários e sensibilidade: o caso base se sustenta, o conservador exige gatilhos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9494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508760"/>
                <a:gridCol w="150876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Otimista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Premissas (novas fazendas / churn / preço)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x0,6 / x1,4 / x0,95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x1,0 / x1,0 / x1,0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x1,4 / x0,7 / x1,0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Fazendas ao fim do ano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 do ano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R$ 11,2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R$ 19,5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R$ 28,1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do ano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R$ 0,7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R$ 5,0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R$ 9,2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Necessidade máxima de caixa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R$ 5,7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R$ 4,0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R$ 3,4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Caixa mínimo c/ aporte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-1,0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R$ 0,5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R$ 0,7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Break-even operacional (mês)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Payback do investimento (mês)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VPL sem / com valor residual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-3,4 mi / R$ 1,1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-0,2 mi / R$ 7,5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R$ 2,8 mi / R$ 13,8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 sem / com valor residual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 / 36%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22% / 84%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 / 119%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caixa cenarios" descr="c_c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325880"/>
            <a:ext cx="4023360" cy="2194560"/>
          </a:xfrm>
          <a:prstGeom prst="rect">
            <a:avLst/>
          </a:prstGeom>
        </p:spPr>
      </p:pic>
      <p:sp>
        <p:nvSpPr>
          <p:cNvPr id="5" name="card"/>
          <p:cNvSpPr/>
          <p:nvPr/>
        </p:nvSpPr>
        <p:spPr>
          <a:xfrm>
            <a:off x="7680960" y="3657600"/>
            <a:ext cx="3977640" cy="2468880"/>
          </a:xfrm>
          <a:prstGeom prst="roundRect">
            <a:avLst>
              <a:gd name="adj" fmla="val 2963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86384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Sensibilidade (VPL com valor residual)</a:t>
            </a:r>
            <a:endParaRPr lang="en-US" sz="130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4114800"/>
          <a:ext cx="36118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822960"/>
                <a:gridCol w="822960"/>
                <a:gridCol w="8229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 \ churn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x0,7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x1,0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x1,4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x0,8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x1,0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x1,2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7863840" y="54864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milhões. Churn e preço pesam mais que o custo de aquisição.</a:t>
            </a:r>
            <a:endParaRPr lang="en-US" sz="11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58521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conservador o caixa fica R$ 1,0 mi negativo: gatilho = congelar contratações de vendas e dados se faltar 40% da meta de fazendas no mês 18.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Investimento: R$ 4,7 mi em três parcelas ligadas a marcos</a:t>
            </a:r>
            <a:endParaRPr lang="en-US" sz="2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1099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05840"/>
                <a:gridCol w="731520"/>
                <a:gridCol w="1280160"/>
                <a:gridCol w="3474720"/>
                <a:gridCol w="34290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Parcela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Marco de liberação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Parcela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Mês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R$ 2,1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Aprovação desta diretoria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Fundação, segurança, 3 pilotos, lançamento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Parcela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Mês 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R$ 1,6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15 fazendas pagantes (base: 20)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Equipe comercial e de sucesso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Parcela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Mês 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R$ 0,9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 ≥ R$ 1,5 mi (base: R$ 2,3 mi)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 regional, benchmark premium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uso dos recursos" descr="c_u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0"/>
            <a:ext cx="5760720" cy="2651760"/>
          </a:xfrm>
          <a:prstGeom prst="rect">
            <a:avLst/>
          </a:prstGeom>
        </p:spPr>
      </p:pic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3246120"/>
          <a:ext cx="52578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1143000"/>
                <a:gridCol w="1005840"/>
                <a:gridCol w="10515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Caixa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Fazendas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Fundação (M1-6)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-0,8 mi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R$ 0,1 mi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Lançamento (M7-18)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-2,0 mi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R$ 1,6 mi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Escala (M19-36)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-1,0 mi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R$ 6,9 mi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Expansão (M37-60)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R$ 7,0 mi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R$ 19,5 mi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6400800" y="525780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 máxima de caixa: R$ 4,0 mi no mês 32; aporte inclui folga de 16%. Retorno: VPL R$ 7,5 mi; TIR 22% (sem valor residual) e 84% (com); payback no mês 54.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548640" y="59436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dos recursos = distribuição dos custos até o ponto mínimo de caixa; a receita financia parte deles.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Economia da unidade: cada fazenda gera R$ 899 por mês de contribuição</a:t>
            </a:r>
            <a:endParaRPr lang="en-US" sz="2600" dirty="0"/>
          </a:p>
        </p:txBody>
      </p:sp>
      <p:sp>
        <p:nvSpPr>
          <p:cNvPr id="3" name="stat"/>
          <p:cNvSpPr/>
          <p:nvPr/>
        </p:nvSpPr>
        <p:spPr>
          <a:xfrm>
            <a:off x="548640" y="141732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2704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70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R$ 1.380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219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de assinatura por fazenda/mês (ano 3)</a:t>
            </a:r>
            <a:endParaRPr lang="en-US" sz="1200" dirty="0"/>
          </a:p>
        </p:txBody>
      </p:sp>
      <p:sp>
        <p:nvSpPr>
          <p:cNvPr id="6" name="stat"/>
          <p:cNvSpPr/>
          <p:nvPr/>
        </p:nvSpPr>
        <p:spPr>
          <a:xfrm>
            <a:off x="3383280" y="141732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152704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R$ 481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2219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variável por fazenda/mês (infra, suporte)</a:t>
            </a:r>
            <a:endParaRPr lang="en-US" sz="1200" dirty="0"/>
          </a:p>
        </p:txBody>
      </p:sp>
      <p:sp>
        <p:nvSpPr>
          <p:cNvPr id="9" name="stat"/>
          <p:cNvSpPr/>
          <p:nvPr/>
        </p:nvSpPr>
        <p:spPr>
          <a:xfrm>
            <a:off x="6217920" y="141732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52704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FA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12,1x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2219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 (ano 3)</a:t>
            </a:r>
            <a:endParaRPr lang="en-US" sz="1200" dirty="0"/>
          </a:p>
        </p:txBody>
      </p:sp>
      <p:sp>
        <p:nvSpPr>
          <p:cNvPr id="12" name="stat"/>
          <p:cNvSpPr/>
          <p:nvPr/>
        </p:nvSpPr>
        <p:spPr>
          <a:xfrm>
            <a:off x="9052560" y="141732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EEF4F2"/>
          </a:solidFill>
          <a:ln w="12700">
            <a:solidFill>
              <a:srgbClr val="EEF4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35440" y="152704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FA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6,9 meses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9235440" y="22219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do CAC (ano 3)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08960"/>
          <a:ext cx="5943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188720"/>
                <a:gridCol w="118872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de suporte e sucesso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fazenda/mês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vaca/mês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R$ 3,01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R$ 2,15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R$ 1,81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da receita líquida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Pessoas (fim do ano)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6766560" y="3108960"/>
            <a:ext cx="4892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mensal de 1,2% (13,5% ao ano) é a premissa que mais pesa: cada ponto de churn custa mais que um ponto de CAC.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de suporte cai por fazenda porque N1 e CS são compartilhados e a base de conhecimento absorve dúvidas repetidas.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bruta evolui de 62% (ano 2) para 75% (ano 5).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Riscos e mitigação</a:t>
            </a:r>
            <a:endParaRPr lang="en-US" sz="26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10996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097280"/>
                <a:gridCol w="6080760"/>
              </a:tblGrid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Mitigação e contingência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Adoção lenta no campo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Piloto de 30 dias, treinamento no curral, lançamento offline, metas de uso no health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acima de 1,2%/mês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 ativo, alertas de risco, contratos anuais com desconto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 por vaca abaixo do esperado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977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entrevistas de preço antes do lançamento; plano Essencial de entrada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Falha de segurança ou vazamento (LGPD)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Muito alto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Banco isolado, pentest anual, DPO, plano de incidentes, seguro cibernético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Concorrente consolidado reage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977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Foco em CCS, preço e suporte local; parcerias com laticínios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Dependência de poucas pessoas-chave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Documentação, testes automáticos, plano de sucessão do tech lead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Atraso nas vendas (caixa)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Aportes por marcos, gatilhos de congelamento de contratação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Cronograma, marcos e indicadores de acompanhamento</a:t>
            </a:r>
            <a:endParaRPr lang="en-US" sz="2600" dirty="0"/>
          </a:p>
        </p:txBody>
      </p:sp>
      <p:sp>
        <p:nvSpPr>
          <p:cNvPr id="3" name="linha do tempo"/>
          <p:cNvSpPr/>
          <p:nvPr/>
        </p:nvSpPr>
        <p:spPr>
          <a:xfrm>
            <a:off x="731520" y="2103120"/>
            <a:ext cx="10698480" cy="0"/>
          </a:xfrm>
          <a:prstGeom prst="line">
            <a:avLst/>
          </a:prstGeom>
          <a:noFill/>
          <a:ln w="38100">
            <a:solidFill>
              <a:srgbClr val="17707C"/>
            </a:solidFill>
            <a:prstDash val="solid"/>
          </a:ln>
        </p:spPr>
      </p:sp>
      <p:sp>
        <p:nvSpPr>
          <p:cNvPr id="4" name="marco"/>
          <p:cNvSpPr/>
          <p:nvPr/>
        </p:nvSpPr>
        <p:spPr>
          <a:xfrm>
            <a:off x="603504" y="1975104"/>
            <a:ext cx="256032" cy="256032"/>
          </a:xfrm>
          <a:prstGeom prst="ellipse">
            <a:avLst/>
          </a:prstGeom>
          <a:solidFill>
            <a:srgbClr val="17707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74320" y="1508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" y="23774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 1; time-núcleo; contratos e LGPD</a:t>
            </a:r>
            <a:endParaRPr lang="en-US" sz="1050" dirty="0"/>
          </a:p>
        </p:txBody>
      </p:sp>
      <p:sp>
        <p:nvSpPr>
          <p:cNvPr id="7" name="marco"/>
          <p:cNvSpPr/>
          <p:nvPr/>
        </p:nvSpPr>
        <p:spPr>
          <a:xfrm>
            <a:off x="2066544" y="1975104"/>
            <a:ext cx="256032" cy="256032"/>
          </a:xfrm>
          <a:prstGeom prst="ellipse">
            <a:avLst/>
          </a:prstGeom>
          <a:solidFill>
            <a:srgbClr val="17707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37360" y="1508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536192" y="23774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 comercial; 3 pilotos concluídos</a:t>
            </a:r>
            <a:endParaRPr lang="en-US" sz="1050" dirty="0"/>
          </a:p>
        </p:txBody>
      </p:sp>
      <p:sp>
        <p:nvSpPr>
          <p:cNvPr id="10" name="marco"/>
          <p:cNvSpPr/>
          <p:nvPr/>
        </p:nvSpPr>
        <p:spPr>
          <a:xfrm>
            <a:off x="3529584" y="1975104"/>
            <a:ext cx="256032" cy="256032"/>
          </a:xfrm>
          <a:prstGeom prst="ellipse">
            <a:avLst/>
          </a:prstGeom>
          <a:solidFill>
            <a:srgbClr val="17707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0" y="1508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999232" y="23774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Pentest, AWS em produção, módulo Produção</a:t>
            </a:r>
            <a:endParaRPr lang="en-US" sz="1050" dirty="0"/>
          </a:p>
        </p:txBody>
      </p:sp>
      <p:sp>
        <p:nvSpPr>
          <p:cNvPr id="13" name="marco"/>
          <p:cNvSpPr/>
          <p:nvPr/>
        </p:nvSpPr>
        <p:spPr>
          <a:xfrm>
            <a:off x="4992624" y="1975104"/>
            <a:ext cx="256032" cy="256032"/>
          </a:xfrm>
          <a:prstGeom prst="ellipse">
            <a:avLst/>
          </a:prstGeom>
          <a:solidFill>
            <a:srgbClr val="F2A9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440" y="1508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462272" y="23774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2: 15+ fazendas pagantes</a:t>
            </a:r>
            <a:endParaRPr lang="en-US" sz="1050" dirty="0"/>
          </a:p>
        </p:txBody>
      </p:sp>
      <p:sp>
        <p:nvSpPr>
          <p:cNvPr id="16" name="marco"/>
          <p:cNvSpPr/>
          <p:nvPr/>
        </p:nvSpPr>
        <p:spPr>
          <a:xfrm>
            <a:off x="6455664" y="1975104"/>
            <a:ext cx="256032" cy="256032"/>
          </a:xfrm>
          <a:prstGeom prst="ellipse">
            <a:avLst/>
          </a:prstGeom>
          <a:solidFill>
            <a:srgbClr val="17707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26480" y="1508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M18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925312" y="23774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reprodutivos; 90+ fazendas</a:t>
            </a:r>
            <a:endParaRPr lang="en-US" sz="1050" dirty="0"/>
          </a:p>
        </p:txBody>
      </p:sp>
      <p:sp>
        <p:nvSpPr>
          <p:cNvPr id="19" name="marco"/>
          <p:cNvSpPr/>
          <p:nvPr/>
        </p:nvSpPr>
        <p:spPr>
          <a:xfrm>
            <a:off x="7918704" y="1975104"/>
            <a:ext cx="256032" cy="256032"/>
          </a:xfrm>
          <a:prstGeom prst="ellipse">
            <a:avLst/>
          </a:prstGeom>
          <a:solidFill>
            <a:srgbClr val="F2A9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0" y="1508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M22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388352" y="23774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3: ARR ≥ R$ 1,5 mi</a:t>
            </a:r>
            <a:endParaRPr lang="en-US" sz="1050" dirty="0"/>
          </a:p>
        </p:txBody>
      </p:sp>
      <p:sp>
        <p:nvSpPr>
          <p:cNvPr id="22" name="marco"/>
          <p:cNvSpPr/>
          <p:nvPr/>
        </p:nvSpPr>
        <p:spPr>
          <a:xfrm>
            <a:off x="9381744" y="1975104"/>
            <a:ext cx="256032" cy="256032"/>
          </a:xfrm>
          <a:prstGeom prst="ellipse">
            <a:avLst/>
          </a:prstGeom>
          <a:solidFill>
            <a:srgbClr val="17707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052560" y="1508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M32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851392" y="23774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operacional</a:t>
            </a:r>
            <a:endParaRPr lang="en-US" sz="1050" dirty="0"/>
          </a:p>
        </p:txBody>
      </p:sp>
      <p:sp>
        <p:nvSpPr>
          <p:cNvPr id="25" name="marco"/>
          <p:cNvSpPr/>
          <p:nvPr/>
        </p:nvSpPr>
        <p:spPr>
          <a:xfrm>
            <a:off x="10844784" y="1975104"/>
            <a:ext cx="256032" cy="256032"/>
          </a:xfrm>
          <a:prstGeom prst="ellipse">
            <a:avLst/>
          </a:prstGeom>
          <a:solidFill>
            <a:srgbClr val="17707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515600" y="1508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314432" y="23774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fazendas; benchmark premium</a:t>
            </a:r>
            <a:endParaRPr lang="en-US" sz="10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111099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2377440"/>
                <a:gridCol w="2377440"/>
                <a:gridCol w="24231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ano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ano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Responsável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Fazendas ativas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Comercial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R$ 0,4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R$ 6,9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anual / NPS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13,5% / ≥ 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13,5% / ≥ 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Sucesso do cliente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até o 1º valor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10 dias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7 dias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Implantação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Disponibilidade / 1ª resposta no SLA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99,5% / 90%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99,7% / 95%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Tecnologia e suporte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Decisão solicitada e próximos passos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7FA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Aprovar R$ 4,7 mi de investimento em 3 parcelas e o lançamento comercial no mês 4.</a:t>
            </a:r>
            <a:endParaRPr lang="en-US" sz="2400" dirty="0"/>
          </a:p>
        </p:txBody>
      </p:sp>
      <p:sp>
        <p:nvSpPr>
          <p:cNvPr id="4" name="passo"/>
          <p:cNvSpPr/>
          <p:nvPr/>
        </p:nvSpPr>
        <p:spPr>
          <a:xfrm>
            <a:off x="548640" y="256032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1C4A53"/>
          </a:solidFill>
          <a:ln w="12700">
            <a:solidFill>
              <a:srgbClr val="1C4A5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30 dias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004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Aprovação, contratação do tech lead e do zootécnico, contratos com os 3 pilotos</a:t>
            </a:r>
            <a:endParaRPr lang="en-US" sz="1300" dirty="0"/>
          </a:p>
        </p:txBody>
      </p:sp>
      <p:sp>
        <p:nvSpPr>
          <p:cNvPr id="7" name="passo"/>
          <p:cNvSpPr/>
          <p:nvPr/>
        </p:nvSpPr>
        <p:spPr>
          <a:xfrm>
            <a:off x="3337560" y="256032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1C4A53"/>
          </a:solidFill>
          <a:ln w="12700">
            <a:solidFill>
              <a:srgbClr val="1C4A5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60 dias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32004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Jurídico e LGPD concluídos, migração para AWS, 10 entrevistas de preço</a:t>
            </a:r>
            <a:endParaRPr lang="en-US" sz="1300" dirty="0"/>
          </a:p>
        </p:txBody>
      </p:sp>
      <p:sp>
        <p:nvSpPr>
          <p:cNvPr id="10" name="passo"/>
          <p:cNvSpPr/>
          <p:nvPr/>
        </p:nvSpPr>
        <p:spPr>
          <a:xfrm>
            <a:off x="6126480" y="256032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1C4A53"/>
          </a:solidFill>
          <a:ln w="12700">
            <a:solidFill>
              <a:srgbClr val="1C4A5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90 dias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32004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Pilotos com dados reais, módulo Produção, material de lançamento</a:t>
            </a:r>
            <a:endParaRPr lang="en-US" sz="1300" dirty="0"/>
          </a:p>
        </p:txBody>
      </p:sp>
      <p:sp>
        <p:nvSpPr>
          <p:cNvPr id="13" name="passo"/>
          <p:cNvSpPr/>
          <p:nvPr/>
        </p:nvSpPr>
        <p:spPr>
          <a:xfrm>
            <a:off x="8915400" y="256032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1C4A53"/>
          </a:solidFill>
          <a:ln w="12700">
            <a:solidFill>
              <a:srgbClr val="1C4A5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98280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Mês 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098280" y="32004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 comercial e primeiros contratos pagantes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diretoria leva: produto funcionando, mercado grande e fragmentado, receita recorrente por vaca e risco controlado por parcelas ligadas a marcos.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Gatilho de revisão: se, no mês 10, houver menos de 10 fazendas pagantes, congelar contratações de vendas e dados e revisar preço e canal.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9BDC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Anexo: premissas-chave e fontes</a:t>
            </a:r>
            <a:endParaRPr lang="en-US" sz="26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10996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743200"/>
                <a:gridCol w="2606040"/>
                <a:gridCol w="274320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Premissa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Premissa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Lançamento comercial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mês 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mensal (base)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 por vaca (Ess./Prof./Prem.)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R$ 4,50 / 7,00 / 10,00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Reajuste anual (IPCA)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 de fazendas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/ 38% / 12%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Prazo de receber / pagar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/ 20 dias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Vacas por fazenda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/ 200 / 450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Tributos sobre receita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 a 14%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Novas fazendas/mês (a1..a5)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12 / 20 / 26 / 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de desconto (TMA)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 a.a.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 variável por fazenda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R$ 2.500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residual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1,5x receita líquida do ano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N1 / CS / N2 / implantação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1:150 faz. / 1:100 faz. / 1:30 mil vacas / 1:8 novas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 por fazenda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R$ 75 + R$ 30 mensageria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029200"/>
            <a:ext cx="11109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 DairyUp_Modelo_Financeiro.xlsx: todas as premissas editáveis, memória de cálculo e conferência do balanço.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IBGE, Pesquisa da Pecuária Municipal 2024: 35,7 bi L, 15,1 mi vacas ordenhadas, 2.632 L/vaca/ano (via Compre Rural, 2025).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IBGE, Censo Agropecuário 2017: 1.176.295 estabelecimentos com produção de leite.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Preços, adoção, custos de pessoal e participação do SAM são premissas de planejamento, não dados auditados; devem ser validados nos pilotos.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iryUp">
  <a:themeElements>
    <a:clrScheme name="DairyUp">
      <a:dk1>
        <a:srgbClr val="1B2B30"/>
      </a:dk1>
      <a:lt1>
        <a:srgbClr val="FFFFFF"/>
      </a:lt1>
      <a:dk2>
        <a:srgbClr val="12333A"/>
      </a:dk2>
      <a:lt2>
        <a:srgbClr val="EEF4F2"/>
      </a:lt2>
      <a:accent1>
        <a:srgbClr val="17707C"/>
      </a:accent1>
      <a:accent2>
        <a:srgbClr val="7FAE3F"/>
      </a:accent2>
      <a:accent3>
        <a:srgbClr val="F2A93B"/>
      </a:accent3>
      <a:accent4>
        <a:srgbClr val="C0392B"/>
      </a:accent4>
      <a:accent5>
        <a:srgbClr val="5BA3AE"/>
      </a:accent5>
      <a:accent6>
        <a:srgbClr val="8A9BA0"/>
      </a:accent6>
      <a:hlink>
        <a:srgbClr val="17707C"/>
      </a:hlink>
      <a:folHlink>
        <a:srgbClr val="8A9BA0"/>
      </a:folHlink>
    </a:clrScheme>
    <a:fontScheme name="DairyUp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DairyUp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DairyUp - Plano de negócios e pedido de investimento</dc:title>
  <dc:subject>PptxGenJS Presentation</dc:subject>
  <dc:creator>DairyUp</dc:creator>
  <cp:lastModifiedBy>DairyUp</cp:lastModifiedBy>
  <cp:revision>1</cp:revision>
  <dcterms:created xsi:type="dcterms:W3CDTF">2026-10-02T12:25:58Z</dcterms:created>
  <dcterms:modified xsi:type="dcterms:W3CDTF">2026-10-02T12:25:58Z</dcterms:modified>
</cp:coreProperties>
</file>